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a:t>
            </a:r>
            <a:endParaRPr sz="1800">
              <a:latin typeface="Google Sans Flex"/>
              <a:ea typeface="Google Sans Flex"/>
              <a:cs typeface="Google Sans Flex"/>
              <a:sym typeface="Google Sans Flex"/>
            </a:endParaRPr>
            <a:r>
              <a:rPr lang="en-GB" sz="1500" b="0">
                <a:latin typeface="Google Sans Flex"/>
                <a:ea typeface="Google Sans Flex"/>
                <a:cs typeface="Google Sans Flex"/>
                <a:sym typeface="Google Sans Flex"/>
              </a:rPr>
              <a:t> HammerLimbo Tech</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a:t>
            </a:r>
            <a:endParaRPr sz="1800">
              <a:latin typeface="Google Sans Flex"/>
              <a:ea typeface="Google Sans Flex"/>
              <a:cs typeface="Google Sans Flex"/>
              <a:sym typeface="Google Sans Flex"/>
            </a:endParaRPr>
            <a:r>
              <a:rPr lang="en-GB" sz="1500" b="0">
                <a:latin typeface="Google Sans Flex"/>
                <a:ea typeface="Google Sans Flex"/>
                <a:cs typeface="Google Sans Flex"/>
                <a:sym typeface="Google Sans Flex"/>
              </a:rPr>
              <a:t> Padmanabhan Rajendrakumar</a:t>
            </a: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a:t>
            </a:r>
            <a:endParaRPr sz="1800">
              <a:latin typeface="Google Sans Flex"/>
              <a:ea typeface="Google Sans Flex"/>
              <a:cs typeface="Google Sans Flex"/>
              <a:sym typeface="Google Sans Flex"/>
            </a:endParaRPr>
            <a:r>
              <a:rPr lang="en-GB" sz="1300" b="0">
                <a:latin typeface="Google Sans Flex"/>
                <a:ea typeface="Google Sans Flex"/>
                <a:cs typeface="Google Sans Flex"/>
                <a:sym typeface="Google Sans Flex"/>
              </a:rPr>
              <a:t> Sustainability &amp; Social Impact. Blind students cannot use the diagrams, graphs and maps in their textbooks; tactile versions are drawn by hand, one figure at a time, so most never reach them.</a:t>
            </a: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20040" y="1143000"/>
            <a:ext cx="5120640" cy="822960"/>
          </a:xfrm>
          <a:prstGeom prst="rect">
            <a:avLst/>
          </a:prstGeom>
          <a:noFill/>
        </p:spPr>
        <p:txBody>
          <a:bodyPr wrap="square" lIns="36576" rIns="36576" tIns="18288" bIns="18288" anchor="t">
            <a:spAutoFit/>
          </a:bodyPr>
          <a:lstStyle/>
          <a:p>
            <a:pPr algn="l">
              <a:spcAft>
                <a:spcPts val="400"/>
              </a:spcAft>
            </a:pPr>
            <a:r>
              <a:rPr sz="2200" b="1" i="0">
                <a:solidFill>
                  <a:srgbClr val="000000"/>
                </a:solidFill>
                <a:latin typeface="Google Sans Flex"/>
              </a:rPr>
              <a:t>Timbul</a:t>
            </a:r>
            <a:r>
              <a:rPr sz="1200" b="0" i="0">
                <a:solidFill>
                  <a:srgbClr val="555555"/>
                </a:solidFill>
                <a:latin typeface="Google Sans Flex"/>
              </a:rPr>
              <a:t>  (Bahasa Indonesia: raised; to emerge)</a:t>
            </a:r>
          </a:p>
          <a:p>
            <a:pPr algn="l">
              <a:spcAft>
                <a:spcPts val="400"/>
              </a:spcAft>
            </a:pPr>
            <a:r>
              <a:rPr sz="1400" b="0" i="0">
                <a:solidFill>
                  <a:srgbClr val="000000"/>
                </a:solidFill>
                <a:latin typeface="Google Sans Flex"/>
              </a:rPr>
              <a:t>Turns any textbook figure into a raised-dot sheet a blind student can feel, and a voice they can ask about it.</a:t>
            </a:r>
          </a:p>
        </p:txBody>
      </p:sp>
      <p:sp>
        <p:nvSpPr>
          <p:cNvPr id="73" name="Oval 72"/>
          <p:cNvSpPr/>
          <p:nvPr/>
        </p:nvSpPr>
        <p:spPr>
          <a:xfrm>
            <a:off x="365760" y="2167128"/>
            <a:ext cx="329184" cy="329184"/>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1</a:t>
            </a:r>
          </a:p>
        </p:txBody>
      </p:sp>
      <p:sp>
        <p:nvSpPr>
          <p:cNvPr id="74" name="TextBox 73"/>
          <p:cNvSpPr txBox="1"/>
          <p:nvPr/>
        </p:nvSpPr>
        <p:spPr>
          <a:xfrm>
            <a:off x="822960" y="2121408"/>
            <a:ext cx="4572000" cy="91440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Teacher: </a:t>
            </a:r>
            <a:r>
              <a:rPr sz="1200" b="0" i="0">
                <a:solidFill>
                  <a:srgbClr val="000000"/>
                </a:solidFill>
                <a:latin typeface="Google Sans Flex"/>
              </a:rPr>
              <a:t>Photographs one textbook page on a laptop or phone.</a:t>
            </a:r>
          </a:p>
        </p:txBody>
      </p:sp>
      <p:sp>
        <p:nvSpPr>
          <p:cNvPr id="75" name="Oval 74"/>
          <p:cNvSpPr/>
          <p:nvPr/>
        </p:nvSpPr>
        <p:spPr>
          <a:xfrm>
            <a:off x="365760" y="2715768"/>
            <a:ext cx="329184" cy="329184"/>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2</a:t>
            </a:r>
          </a:p>
        </p:txBody>
      </p:sp>
      <p:sp>
        <p:nvSpPr>
          <p:cNvPr id="76" name="TextBox 75"/>
          <p:cNvSpPr txBox="1"/>
          <p:nvPr/>
        </p:nvSpPr>
        <p:spPr>
          <a:xfrm>
            <a:off x="822960" y="2670048"/>
            <a:ext cx="4572000" cy="91440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Gemini + Timbul: </a:t>
            </a:r>
            <a:r>
              <a:rPr sz="1200" b="0" i="0">
                <a:solidFill>
                  <a:srgbClr val="000000"/>
                </a:solidFill>
                <a:latin typeface="Google Sans Flex"/>
              </a:rPr>
              <a:t>Gemini finds the figure, reads it, then checks its own drawing against the page and corrects it. Timbul's code draws it in raised dots with braille labels and checks tactile rules. The teacher approves, and prints an A4 sheet numbered in braille.</a:t>
            </a:r>
          </a:p>
        </p:txBody>
      </p:sp>
      <p:sp>
        <p:nvSpPr>
          <p:cNvPr id="77" name="Oval 76"/>
          <p:cNvSpPr/>
          <p:nvPr/>
        </p:nvSpPr>
        <p:spPr>
          <a:xfrm>
            <a:off x="365760" y="3721607"/>
            <a:ext cx="329184" cy="329184"/>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3</a:t>
            </a:r>
          </a:p>
        </p:txBody>
      </p:sp>
      <p:sp>
        <p:nvSpPr>
          <p:cNvPr id="78" name="TextBox 77"/>
          <p:cNvSpPr txBox="1"/>
          <p:nvPr/>
        </p:nvSpPr>
        <p:spPr>
          <a:xfrm>
            <a:off x="822960" y="3675887"/>
            <a:ext cx="4572000" cy="91440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Student: </a:t>
            </a:r>
            <a:r>
              <a:rPr sz="1200" b="0" i="0">
                <a:solidFill>
                  <a:srgbClr val="000000"/>
                </a:solidFill>
                <a:latin typeface="Google Sans Flex"/>
              </a:rPr>
              <a:t>Feels the printed sheet, says its number to open it in Timbul, and asks questions by voice, in English or Bahasa Indonesia.</a:t>
            </a:r>
          </a:p>
        </p:txBody>
      </p:sp>
      <p:pic>
        <p:nvPicPr>
          <p:cNvPr id="79" name="Picture 78" descr="print-sheet-crop.png"/>
          <p:cNvPicPr>
            <a:picLocks noChangeAspect="1"/>
          </p:cNvPicPr>
          <p:nvPr/>
        </p:nvPicPr>
        <p:blipFill>
          <a:blip r:embed="rId4"/>
          <a:stretch>
            <a:fillRect/>
          </a:stretch>
        </p:blipFill>
        <p:spPr>
          <a:xfrm>
            <a:off x="5669280" y="1188720"/>
            <a:ext cx="3154680" cy="2235343"/>
          </a:xfrm>
          <a:prstGeom prst="rect">
            <a:avLst/>
          </a:prstGeom>
          <a:ln w="12700">
            <a:solidFill>
              <a:srgbClr val="000000"/>
            </a:solidFill>
          </a:ln>
        </p:spPr>
      </p:pic>
      <p:sp>
        <p:nvSpPr>
          <p:cNvPr id="80" name="TextBox 79"/>
          <p:cNvSpPr txBox="1"/>
          <p:nvPr/>
        </p:nvSpPr>
        <p:spPr>
          <a:xfrm>
            <a:off x="5669280" y="4343400"/>
            <a:ext cx="3154680" cy="457200"/>
          </a:xfrm>
          <a:prstGeom prst="rect">
            <a:avLst/>
          </a:prstGeom>
          <a:noFill/>
        </p:spPr>
        <p:txBody>
          <a:bodyPr wrap="square" lIns="36576" rIns="36576" tIns="18288" bIns="18288" anchor="t">
            <a:spAutoFit/>
          </a:bodyPr>
          <a:lstStyle/>
          <a:p>
            <a:pPr algn="l">
              <a:spcAft>
                <a:spcPts val="400"/>
              </a:spcAft>
            </a:pPr>
            <a:r>
              <a:rPr sz="900" b="0" i="0">
                <a:solidFill>
                  <a:srgbClr val="555555"/>
                </a:solidFill>
                <a:latin typeface="Google Sans Flex"/>
              </a:rPr>
              <a:t>A printed Timbul sheet: raised lines, braille labels and key, sheet number bottom left, orientation notch top right.</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TextBox 79"/>
          <p:cNvSpPr txBox="1"/>
          <p:nvPr/>
        </p:nvSpPr>
        <p:spPr>
          <a:xfrm>
            <a:off x="320040" y="1188720"/>
            <a:ext cx="5212080" cy="1143000"/>
          </a:xfrm>
          <a:prstGeom prst="rect">
            <a:avLst/>
          </a:prstGeom>
          <a:noFill/>
        </p:spPr>
        <p:txBody>
          <a:bodyPr wrap="square" lIns="36576" rIns="36576" tIns="18288" bIns="18288" anchor="t">
            <a:spAutoFit/>
          </a:bodyPr>
          <a:lstStyle/>
          <a:p>
            <a:pPr algn="l">
              <a:spcAft>
                <a:spcPts val="200"/>
              </a:spcAft>
            </a:pPr>
            <a:r>
              <a:rPr sz="1250" b="1" i="0">
                <a:solidFill>
                  <a:srgbClr val="000000"/>
                </a:solidFill>
                <a:latin typeface="Google Sans Flex"/>
              </a:rPr>
              <a:t>How is it different from existing ideas?</a:t>
            </a:r>
          </a:p>
          <a:p>
            <a:pPr algn="l">
              <a:spcAft>
                <a:spcPts val="200"/>
              </a:spcAft>
            </a:pPr>
            <a:r>
              <a:rPr sz="1150" b="0" i="0">
                <a:solidFill>
                  <a:srgbClr val="000000"/>
                </a:solidFill>
                <a:latin typeface="Google Sans Flex"/>
              </a:rPr>
              <a:t>Image-description tools only say what a picture is, in words. Tactile drawings need a trained transcriber and hours per figure. Timbul does both halves together: an exact, rule-checked raised drawing and a voice that answers questions about that same figure.</a:t>
            </a:r>
          </a:p>
        </p:txBody>
      </p:sp>
      <p:sp>
        <p:nvSpPr>
          <p:cNvPr id="81" name="TextBox 80"/>
          <p:cNvSpPr txBox="1"/>
          <p:nvPr/>
        </p:nvSpPr>
        <p:spPr>
          <a:xfrm>
            <a:off x="320040" y="2404872"/>
            <a:ext cx="5212080" cy="1143000"/>
          </a:xfrm>
          <a:prstGeom prst="rect">
            <a:avLst/>
          </a:prstGeom>
          <a:noFill/>
        </p:spPr>
        <p:txBody>
          <a:bodyPr wrap="square" lIns="36576" rIns="36576" tIns="18288" bIns="18288" anchor="t">
            <a:spAutoFit/>
          </a:bodyPr>
          <a:lstStyle/>
          <a:p>
            <a:pPr algn="l">
              <a:spcAft>
                <a:spcPts val="200"/>
              </a:spcAft>
            </a:pPr>
            <a:r>
              <a:rPr sz="1250" b="1" i="0">
                <a:solidFill>
                  <a:srgbClr val="000000"/>
                </a:solidFill>
                <a:latin typeface="Google Sans Flex"/>
              </a:rPr>
              <a:t>How will it solve the problem?</a:t>
            </a:r>
          </a:p>
          <a:p>
            <a:pPr algn="l">
              <a:spcAft>
                <a:spcPts val="200"/>
              </a:spcAft>
            </a:pPr>
            <a:r>
              <a:rPr sz="1150" b="0" i="0">
                <a:solidFill>
                  <a:srgbClr val="000000"/>
                </a:solidFill>
                <a:latin typeface="Google Sans Flex"/>
              </a:rPr>
              <a:t>One photo becomes a checked, print-ready tactile sheet in about a minute, against 1 to 5 hours by hand. The student explores it alone, by touch and by voice. Audio plus touch works: in one study blind students recalled 55% of a map's layout with an interactive audio model, against 29% with a raised-line map and braille legend (Giraud et al., Frontiers in Psychology, 2017).</a:t>
            </a:r>
          </a:p>
        </p:txBody>
      </p:sp>
      <p:sp>
        <p:nvSpPr>
          <p:cNvPr id="82" name="TextBox 81"/>
          <p:cNvSpPr txBox="1"/>
          <p:nvPr/>
        </p:nvSpPr>
        <p:spPr>
          <a:xfrm>
            <a:off x="320040" y="3621024"/>
            <a:ext cx="5212080" cy="1143000"/>
          </a:xfrm>
          <a:prstGeom prst="rect">
            <a:avLst/>
          </a:prstGeom>
          <a:noFill/>
        </p:spPr>
        <p:txBody>
          <a:bodyPr wrap="square" lIns="36576" rIns="36576" tIns="18288" bIns="18288" anchor="t">
            <a:spAutoFit/>
          </a:bodyPr>
          <a:lstStyle/>
          <a:p>
            <a:pPr algn="l">
              <a:spcAft>
                <a:spcPts val="200"/>
              </a:spcAft>
            </a:pPr>
            <a:r>
              <a:rPr sz="1250" b="1" i="0">
                <a:solidFill>
                  <a:srgbClr val="000000"/>
                </a:solidFill>
                <a:latin typeface="Google Sans Flex"/>
              </a:rPr>
              <a:t>USP</a:t>
            </a:r>
          </a:p>
          <a:p>
            <a:pPr algn="l">
              <a:spcAft>
                <a:spcPts val="200"/>
              </a:spcAft>
            </a:pPr>
            <a:r>
              <a:rPr sz="1150" b="0" i="0">
                <a:solidFill>
                  <a:srgbClr val="000000"/>
                </a:solidFill>
                <a:latin typeface="Google Sans Flex"/>
              </a:rPr>
              <a:t>The model reads; our code draws. Gemini understands the figure, then Timbul's code places every dot and checks it, so what the student hears always matches what they feel. Built for Southeast Asia, in English and Bahasa Indonesia.</a:t>
            </a:r>
          </a:p>
        </p:txBody>
      </p:sp>
      <p:sp>
        <p:nvSpPr>
          <p:cNvPr id="83" name="Rounded Rectangle 82"/>
          <p:cNvSpPr/>
          <p:nvPr/>
        </p:nvSpPr>
        <p:spPr>
          <a:xfrm>
            <a:off x="5760720" y="1188720"/>
            <a:ext cx="3063240" cy="1115568"/>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5870448" y="1234440"/>
            <a:ext cx="2834640" cy="457200"/>
          </a:xfrm>
          <a:prstGeom prst="rect">
            <a:avLst/>
          </a:prstGeom>
          <a:noFill/>
        </p:spPr>
        <p:txBody>
          <a:bodyPr wrap="square" lIns="36576" rIns="36576" tIns="18288" bIns="18288" anchor="t">
            <a:spAutoFit/>
          </a:bodyPr>
          <a:lstStyle/>
          <a:p>
            <a:pPr algn="l">
              <a:spcAft>
                <a:spcPts val="400"/>
              </a:spcAft>
            </a:pPr>
            <a:r>
              <a:rPr sz="2400" b="1" i="0">
                <a:solidFill>
                  <a:srgbClr val="000000"/>
                </a:solidFill>
                <a:latin typeface="Google Sans Flex"/>
              </a:rPr>
              <a:t>43.3M</a:t>
            </a:r>
          </a:p>
        </p:txBody>
      </p:sp>
      <p:sp>
        <p:nvSpPr>
          <p:cNvPr id="85" name="TextBox 84"/>
          <p:cNvSpPr txBox="1"/>
          <p:nvPr/>
        </p:nvSpPr>
        <p:spPr>
          <a:xfrm>
            <a:off x="5870448" y="1664208"/>
            <a:ext cx="2834640" cy="640080"/>
          </a:xfrm>
          <a:prstGeom prst="rect">
            <a:avLst/>
          </a:prstGeom>
          <a:noFill/>
        </p:spPr>
        <p:txBody>
          <a:bodyPr wrap="square" lIns="36576" rIns="36576" tIns="18288" bIns="18288" anchor="t">
            <a:spAutoFit/>
          </a:bodyPr>
          <a:lstStyle/>
          <a:p>
            <a:pPr algn="l">
              <a:spcAft>
                <a:spcPts val="100"/>
              </a:spcAft>
            </a:pPr>
            <a:r>
              <a:rPr sz="1000" b="0" i="0">
                <a:solidFill>
                  <a:srgbClr val="000000"/>
                </a:solidFill>
                <a:latin typeface="Google Sans Flex"/>
              </a:rPr>
              <a:t>people are blind worldwide</a:t>
            </a:r>
          </a:p>
          <a:p>
            <a:pPr algn="l">
              <a:spcAft>
                <a:spcPts val="100"/>
              </a:spcAft>
            </a:pPr>
            <a:r>
              <a:rPr sz="800" b="0" i="0">
                <a:solidFill>
                  <a:srgbClr val="555555"/>
                </a:solidFill>
                <a:latin typeface="Google Sans Flex"/>
              </a:rPr>
              <a:t>The Lancet Global Health, 2021 (VLEG, GBD 2020)</a:t>
            </a:r>
          </a:p>
        </p:txBody>
      </p:sp>
      <p:sp>
        <p:nvSpPr>
          <p:cNvPr id="86" name="Rounded Rectangle 85"/>
          <p:cNvSpPr/>
          <p:nvPr/>
        </p:nvSpPr>
        <p:spPr>
          <a:xfrm>
            <a:off x="5760720" y="2404872"/>
            <a:ext cx="3063240" cy="1115568"/>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5870448" y="2450591"/>
            <a:ext cx="2834640" cy="457200"/>
          </a:xfrm>
          <a:prstGeom prst="rect">
            <a:avLst/>
          </a:prstGeom>
          <a:noFill/>
        </p:spPr>
        <p:txBody>
          <a:bodyPr wrap="square" lIns="36576" rIns="36576" tIns="18288" bIns="18288" anchor="t">
            <a:spAutoFit/>
          </a:bodyPr>
          <a:lstStyle/>
          <a:p>
            <a:pPr algn="l">
              <a:spcAft>
                <a:spcPts val="400"/>
              </a:spcAft>
            </a:pPr>
            <a:r>
              <a:rPr sz="2400" b="1" i="0">
                <a:solidFill>
                  <a:srgbClr val="000000"/>
                </a:solidFill>
                <a:latin typeface="Google Sans Flex"/>
              </a:rPr>
              <a:t>12.0M</a:t>
            </a:r>
          </a:p>
        </p:txBody>
      </p:sp>
      <p:sp>
        <p:nvSpPr>
          <p:cNvPr id="88" name="TextBox 87"/>
          <p:cNvSpPr txBox="1"/>
          <p:nvPr/>
        </p:nvSpPr>
        <p:spPr>
          <a:xfrm>
            <a:off x="5870448" y="2880360"/>
            <a:ext cx="2834640" cy="640080"/>
          </a:xfrm>
          <a:prstGeom prst="rect">
            <a:avLst/>
          </a:prstGeom>
          <a:noFill/>
        </p:spPr>
        <p:txBody>
          <a:bodyPr wrap="square" lIns="36576" rIns="36576" tIns="18288" bIns="18288" anchor="t">
            <a:spAutoFit/>
          </a:bodyPr>
          <a:lstStyle/>
          <a:p>
            <a:pPr algn="l">
              <a:spcAft>
                <a:spcPts val="100"/>
              </a:spcAft>
            </a:pPr>
            <a:r>
              <a:rPr sz="1000" b="0" i="0">
                <a:solidFill>
                  <a:srgbClr val="000000"/>
                </a:solidFill>
                <a:latin typeface="Google Sans Flex"/>
              </a:rPr>
              <a:t>children and young people (0 to 19) in Southeast Asia live with vision loss</a:t>
            </a:r>
          </a:p>
          <a:p>
            <a:pPr algn="l">
              <a:spcAft>
                <a:spcPts val="100"/>
              </a:spcAft>
            </a:pPr>
            <a:r>
              <a:rPr sz="800" b="0" i="0">
                <a:solidFill>
                  <a:srgbClr val="555555"/>
                </a:solidFill>
                <a:latin typeface="Google Sans Flex"/>
              </a:rPr>
              <a:t>IAPB Vision Atlas, Southeast Asia (VLEG, GBD 2020)</a:t>
            </a:r>
          </a:p>
        </p:txBody>
      </p:sp>
      <p:sp>
        <p:nvSpPr>
          <p:cNvPr id="89" name="Rounded Rectangle 88"/>
          <p:cNvSpPr/>
          <p:nvPr/>
        </p:nvSpPr>
        <p:spPr>
          <a:xfrm>
            <a:off x="5760720" y="3621024"/>
            <a:ext cx="3063240" cy="1115568"/>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5870448" y="3666744"/>
            <a:ext cx="2834640" cy="457200"/>
          </a:xfrm>
          <a:prstGeom prst="rect">
            <a:avLst/>
          </a:prstGeom>
          <a:noFill/>
        </p:spPr>
        <p:txBody>
          <a:bodyPr wrap="square" lIns="36576" rIns="36576" tIns="18288" bIns="18288" anchor="t">
            <a:spAutoFit/>
          </a:bodyPr>
          <a:lstStyle/>
          <a:p>
            <a:pPr algn="l">
              <a:spcAft>
                <a:spcPts val="400"/>
              </a:spcAft>
            </a:pPr>
            <a:r>
              <a:rPr sz="2400" b="1" i="0">
                <a:solidFill>
                  <a:srgbClr val="000000"/>
                </a:solidFill>
                <a:latin typeface="Google Sans Flex"/>
              </a:rPr>
              <a:t>1 to 5 h</a:t>
            </a:r>
          </a:p>
        </p:txBody>
      </p:sp>
      <p:sp>
        <p:nvSpPr>
          <p:cNvPr id="91" name="TextBox 90"/>
          <p:cNvSpPr txBox="1"/>
          <p:nvPr/>
        </p:nvSpPr>
        <p:spPr>
          <a:xfrm>
            <a:off x="5870448" y="4096512"/>
            <a:ext cx="2834640" cy="640080"/>
          </a:xfrm>
          <a:prstGeom prst="rect">
            <a:avLst/>
          </a:prstGeom>
          <a:noFill/>
        </p:spPr>
        <p:txBody>
          <a:bodyPr wrap="square" lIns="36576" rIns="36576" tIns="18288" bIns="18288" anchor="t">
            <a:spAutoFit/>
          </a:bodyPr>
          <a:lstStyle/>
          <a:p>
            <a:pPr algn="l">
              <a:spcAft>
                <a:spcPts val="100"/>
              </a:spcAft>
            </a:pPr>
            <a:r>
              <a:rPr sz="1000" b="0" i="0">
                <a:solidFill>
                  <a:srgbClr val="000000"/>
                </a:solidFill>
                <a:latin typeface="Google Sans Flex"/>
              </a:rPr>
              <a:t>to draw one tactile figure by hand; a science textbook can hold 500 figures</a:t>
            </a:r>
          </a:p>
          <a:p>
            <a:pPr algn="l">
              <a:spcAft>
                <a:spcPts val="100"/>
              </a:spcAft>
            </a:pPr>
            <a:r>
              <a:rPr sz="800" b="0" i="0">
                <a:solidFill>
                  <a:srgbClr val="555555"/>
                </a:solidFill>
                <a:latin typeface="Google Sans Flex"/>
              </a:rPr>
              <a:t>Ladner et al., ASSETS 2005 (University of Washington)</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20040" y="1234440"/>
            <a:ext cx="2011680" cy="169164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429768" y="13441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1</a:t>
            </a:r>
          </a:p>
        </p:txBody>
      </p:sp>
      <p:sp>
        <p:nvSpPr>
          <p:cNvPr id="90" name="TextBox 89"/>
          <p:cNvSpPr txBox="1"/>
          <p:nvPr/>
        </p:nvSpPr>
        <p:spPr>
          <a:xfrm>
            <a:off x="429768" y="16916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Find, zoom, read</a:t>
            </a:r>
          </a:p>
        </p:txBody>
      </p:sp>
      <p:sp>
        <p:nvSpPr>
          <p:cNvPr id="91" name="TextBox 90"/>
          <p:cNvSpPr txBox="1"/>
          <p:nvPr/>
        </p:nvSpPr>
        <p:spPr>
          <a:xfrm>
            <a:off x="429768" y="20208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Gemini finds the figure on the page, Timbul crops to it, and Gemini reads the close-up: parts, positions, links.</a:t>
            </a:r>
          </a:p>
        </p:txBody>
      </p:sp>
      <p:sp>
        <p:nvSpPr>
          <p:cNvPr id="92" name="Rounded Rectangle 91"/>
          <p:cNvSpPr/>
          <p:nvPr/>
        </p:nvSpPr>
        <p:spPr>
          <a:xfrm>
            <a:off x="2478024" y="1234440"/>
            <a:ext cx="2011680" cy="169164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2587752" y="13441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2</a:t>
            </a:r>
          </a:p>
        </p:txBody>
      </p:sp>
      <p:sp>
        <p:nvSpPr>
          <p:cNvPr id="94" name="TextBox 93"/>
          <p:cNvSpPr txBox="1"/>
          <p:nvPr/>
        </p:nvSpPr>
        <p:spPr>
          <a:xfrm>
            <a:off x="2587752" y="16916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Gemini checks its work</a:t>
            </a:r>
          </a:p>
        </p:txBody>
      </p:sp>
      <p:sp>
        <p:nvSpPr>
          <p:cNvPr id="95" name="TextBox 94"/>
          <p:cNvSpPr txBox="1"/>
          <p:nvPr/>
        </p:nvSpPr>
        <p:spPr>
          <a:xfrm>
            <a:off x="2587752" y="20208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Gemini lays its drawing over the page and corrects what is out of place. Tested: it caught a part we moved and put it back.</a:t>
            </a:r>
          </a:p>
        </p:txBody>
      </p:sp>
      <p:sp>
        <p:nvSpPr>
          <p:cNvPr id="96" name="Rounded Rectangle 95"/>
          <p:cNvSpPr/>
          <p:nvPr/>
        </p:nvSpPr>
        <p:spPr>
          <a:xfrm>
            <a:off x="4636007" y="1234440"/>
            <a:ext cx="2011680" cy="169164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4745736" y="13441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3</a:t>
            </a:r>
          </a:p>
        </p:txBody>
      </p:sp>
      <p:sp>
        <p:nvSpPr>
          <p:cNvPr id="98" name="TextBox 97"/>
          <p:cNvSpPr txBox="1"/>
          <p:nvPr/>
        </p:nvSpPr>
        <p:spPr>
          <a:xfrm>
            <a:off x="4745736" y="16916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Raised-dot drawing</a:t>
            </a:r>
          </a:p>
        </p:txBody>
      </p:sp>
      <p:sp>
        <p:nvSpPr>
          <p:cNvPr id="99" name="TextBox 98"/>
          <p:cNvSpPr txBox="1"/>
          <p:nvPr/>
        </p:nvSpPr>
        <p:spPr>
          <a:xfrm>
            <a:off x="4745736" y="20208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Every line as dots at true size, braille labels and key; many repeated items drawn as groups, not a tangle.</a:t>
            </a:r>
          </a:p>
        </p:txBody>
      </p:sp>
      <p:sp>
        <p:nvSpPr>
          <p:cNvPr id="100" name="Rounded Rectangle 99"/>
          <p:cNvSpPr/>
          <p:nvPr/>
        </p:nvSpPr>
        <p:spPr>
          <a:xfrm>
            <a:off x="6793992" y="1234440"/>
            <a:ext cx="2011680" cy="169164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6903720" y="13441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4</a:t>
            </a:r>
          </a:p>
        </p:txBody>
      </p:sp>
      <p:sp>
        <p:nvSpPr>
          <p:cNvPr id="102" name="TextBox 101"/>
          <p:cNvSpPr txBox="1"/>
          <p:nvPr/>
        </p:nvSpPr>
        <p:spPr>
          <a:xfrm>
            <a:off x="6903720" y="16916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Four rule checks</a:t>
            </a:r>
          </a:p>
        </p:txBody>
      </p:sp>
      <p:sp>
        <p:nvSpPr>
          <p:cNvPr id="103" name="TextBox 102"/>
          <p:cNvSpPr txBox="1"/>
          <p:nvPr/>
        </p:nvSpPr>
        <p:spPr>
          <a:xfrm>
            <a:off x="6903720" y="20208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Lines 3 mm apart, braille clear of lines, at most 12 parts, every label in braille; crossings and near-misses fixed.</a:t>
            </a:r>
          </a:p>
        </p:txBody>
      </p:sp>
      <p:sp>
        <p:nvSpPr>
          <p:cNvPr id="104" name="Rounded Rectangle 103"/>
          <p:cNvSpPr/>
          <p:nvPr/>
        </p:nvSpPr>
        <p:spPr>
          <a:xfrm>
            <a:off x="320040" y="3063240"/>
            <a:ext cx="2011680" cy="169164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Oval 104"/>
          <p:cNvSpPr/>
          <p:nvPr/>
        </p:nvSpPr>
        <p:spPr>
          <a:xfrm>
            <a:off x="429768" y="31729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5</a:t>
            </a:r>
          </a:p>
        </p:txBody>
      </p:sp>
      <p:sp>
        <p:nvSpPr>
          <p:cNvPr id="106" name="TextBox 105"/>
          <p:cNvSpPr txBox="1"/>
          <p:nvPr/>
        </p:nvSpPr>
        <p:spPr>
          <a:xfrm>
            <a:off x="429768" y="35204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Teacher approves</a:t>
            </a:r>
          </a:p>
        </p:txBody>
      </p:sp>
      <p:sp>
        <p:nvSpPr>
          <p:cNvPr id="107" name="TextBox 106"/>
          <p:cNvSpPr txBox="1"/>
          <p:nvPr/>
        </p:nvSpPr>
        <p:spPr>
          <a:xfrm>
            <a:off x="429768" y="38496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Nothing prints until a teacher compares it with the original. Print-ready A4 SVG, numbered in braille.</a:t>
            </a:r>
          </a:p>
        </p:txBody>
      </p:sp>
      <p:sp>
        <p:nvSpPr>
          <p:cNvPr id="108" name="Rounded Rectangle 107"/>
          <p:cNvSpPr/>
          <p:nvPr/>
        </p:nvSpPr>
        <p:spPr>
          <a:xfrm>
            <a:off x="2478024" y="3063240"/>
            <a:ext cx="2011680" cy="169164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Oval 108"/>
          <p:cNvSpPr/>
          <p:nvPr/>
        </p:nvSpPr>
        <p:spPr>
          <a:xfrm>
            <a:off x="2587752" y="31729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6</a:t>
            </a:r>
          </a:p>
        </p:txBody>
      </p:sp>
      <p:sp>
        <p:nvSpPr>
          <p:cNvPr id="110" name="TextBox 109"/>
          <p:cNvSpPr txBox="1"/>
          <p:nvPr/>
        </p:nvSpPr>
        <p:spPr>
          <a:xfrm>
            <a:off x="2587752" y="35204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Class library</a:t>
            </a:r>
          </a:p>
        </p:txBody>
      </p:sp>
      <p:sp>
        <p:nvSpPr>
          <p:cNvPr id="111" name="TextBox 110"/>
          <p:cNvSpPr txBox="1"/>
          <p:nvPr/>
        </p:nvSpPr>
        <p:spPr>
          <a:xfrm>
            <a:off x="2587752" y="38496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Approved sheets are numbered and shared by class code (Firestore). The student says “sheet two” to open one on any device.</a:t>
            </a:r>
          </a:p>
        </p:txBody>
      </p:sp>
      <p:sp>
        <p:nvSpPr>
          <p:cNvPr id="112" name="Rounded Rectangle 111"/>
          <p:cNvSpPr/>
          <p:nvPr/>
        </p:nvSpPr>
        <p:spPr>
          <a:xfrm>
            <a:off x="4636007" y="3063240"/>
            <a:ext cx="2011680" cy="169164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Oval 112"/>
          <p:cNvSpPr/>
          <p:nvPr/>
        </p:nvSpPr>
        <p:spPr>
          <a:xfrm>
            <a:off x="4745736" y="31729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7</a:t>
            </a:r>
          </a:p>
        </p:txBody>
      </p:sp>
      <p:sp>
        <p:nvSpPr>
          <p:cNvPr id="114" name="TextBox 113"/>
          <p:cNvSpPr txBox="1"/>
          <p:nvPr/>
        </p:nvSpPr>
        <p:spPr>
          <a:xfrm>
            <a:off x="4745736" y="35204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Point and ask</a:t>
            </a:r>
          </a:p>
        </p:txBody>
      </p:sp>
      <p:sp>
        <p:nvSpPr>
          <p:cNvPr id="115" name="TextBox 114"/>
          <p:cNvSpPr txBox="1"/>
          <p:nvPr/>
        </p:nvSpPr>
        <p:spPr>
          <a:xfrm>
            <a:off x="4745736" y="38496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The phone camera above the printed sheet: she touches a shape and asks “what is this?”; Gemini finds the fingertip and Timbul names the part.</a:t>
            </a:r>
          </a:p>
        </p:txBody>
      </p:sp>
      <p:sp>
        <p:nvSpPr>
          <p:cNvPr id="116" name="Rounded Rectangle 115"/>
          <p:cNvSpPr/>
          <p:nvPr/>
        </p:nvSpPr>
        <p:spPr>
          <a:xfrm>
            <a:off x="6793992" y="3063240"/>
            <a:ext cx="2011680" cy="169164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6903720" y="31729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8</a:t>
            </a:r>
          </a:p>
        </p:txBody>
      </p:sp>
      <p:sp>
        <p:nvSpPr>
          <p:cNvPr id="118" name="TextBox 117"/>
          <p:cNvSpPr txBox="1"/>
          <p:nvPr/>
        </p:nvSpPr>
        <p:spPr>
          <a:xfrm>
            <a:off x="6903720" y="3520440"/>
            <a:ext cx="1792224" cy="365760"/>
          </a:xfrm>
          <a:prstGeom prst="rect">
            <a:avLst/>
          </a:prstGeom>
          <a:noFill/>
        </p:spPr>
        <p:txBody>
          <a:bodyPr wrap="square" lIns="36576" rIns="36576" tIns="18288" bIns="18288" anchor="t">
            <a:spAutoFit/>
          </a:bodyPr>
          <a:lstStyle/>
          <a:p>
            <a:pPr algn="l">
              <a:spcAft>
                <a:spcPts val="400"/>
              </a:spcAft>
            </a:pPr>
            <a:r>
              <a:rPr sz="1200" b="1" i="0">
                <a:solidFill>
                  <a:srgbClr val="000000"/>
                </a:solidFill>
                <a:latin typeface="Google Sans Flex"/>
              </a:rPr>
              <a:t>Explore and ask</a:t>
            </a:r>
          </a:p>
        </p:txBody>
      </p:sp>
      <p:sp>
        <p:nvSpPr>
          <p:cNvPr id="119" name="TextBox 118"/>
          <p:cNvSpPr txBox="1"/>
          <p:nvPr/>
        </p:nvSpPr>
        <p:spPr>
          <a:xfrm>
            <a:off x="6903720" y="3849624"/>
            <a:ext cx="1792224" cy="868680"/>
          </a:xfrm>
          <a:prstGeom prst="rect">
            <a:avLst/>
          </a:prstGeom>
          <a:noFill/>
        </p:spPr>
        <p:txBody>
          <a:bodyPr wrap="square" lIns="36576" rIns="36576" tIns="18288" bIns="18288" anchor="t">
            <a:spAutoFit/>
          </a:bodyPr>
          <a:lstStyle/>
          <a:p>
            <a:pPr algn="l">
              <a:spcAft>
                <a:spcPts val="400"/>
              </a:spcAft>
            </a:pPr>
            <a:r>
              <a:rPr sz="950" b="0" i="0">
                <a:solidFill>
                  <a:srgbClr val="000000"/>
                </a:solidFill>
                <a:latin typeface="Google Sans Flex"/>
              </a:rPr>
              <a:t>An overview, part by part with keys, and any question by voice, in English or Bahasa Indonesia; answers spoken.</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extBox 95"/>
          <p:cNvSpPr txBox="1"/>
          <p:nvPr/>
        </p:nvSpPr>
        <p:spPr>
          <a:xfrm>
            <a:off x="320040" y="1143000"/>
            <a:ext cx="1097280" cy="274320"/>
          </a:xfrm>
          <a:prstGeom prst="rect">
            <a:avLst/>
          </a:prstGeom>
          <a:noFill/>
        </p:spPr>
        <p:txBody>
          <a:bodyPr wrap="square" lIns="36576" rIns="36576" tIns="18288" bIns="18288" anchor="t">
            <a:spAutoFit/>
          </a:bodyPr>
          <a:lstStyle/>
          <a:p>
            <a:pPr algn="l">
              <a:spcAft>
                <a:spcPts val="400"/>
              </a:spcAft>
            </a:pPr>
            <a:r>
              <a:rPr sz="1000" b="1" i="0">
                <a:solidFill>
                  <a:srgbClr val="000000"/>
                </a:solidFill>
                <a:latin typeface="Google Sans Flex"/>
              </a:rPr>
              <a:t>TEACHER</a:t>
            </a:r>
          </a:p>
        </p:txBody>
      </p:sp>
      <p:sp>
        <p:nvSpPr>
          <p:cNvPr id="97" name="TextBox 96"/>
          <p:cNvSpPr txBox="1"/>
          <p:nvPr/>
        </p:nvSpPr>
        <p:spPr>
          <a:xfrm>
            <a:off x="320040" y="3017520"/>
            <a:ext cx="1097280" cy="274320"/>
          </a:xfrm>
          <a:prstGeom prst="rect">
            <a:avLst/>
          </a:prstGeom>
          <a:noFill/>
        </p:spPr>
        <p:txBody>
          <a:bodyPr wrap="square" lIns="36576" rIns="36576" tIns="18288" bIns="18288" anchor="t">
            <a:spAutoFit/>
          </a:bodyPr>
          <a:lstStyle/>
          <a:p>
            <a:pPr algn="l">
              <a:spcAft>
                <a:spcPts val="400"/>
              </a:spcAft>
            </a:pPr>
            <a:r>
              <a:rPr sz="1000" b="1" i="0">
                <a:solidFill>
                  <a:srgbClr val="000000"/>
                </a:solidFill>
                <a:latin typeface="Google Sans Flex"/>
              </a:rPr>
              <a:t>STUDENT</a:t>
            </a:r>
          </a:p>
        </p:txBody>
      </p:sp>
      <p:sp>
        <p:nvSpPr>
          <p:cNvPr id="98" name="Rounded Rectangle 97"/>
          <p:cNvSpPr/>
          <p:nvPr/>
        </p:nvSpPr>
        <p:spPr>
          <a:xfrm>
            <a:off x="320040" y="1463040"/>
            <a:ext cx="1463040" cy="91440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365759" y="153619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Photograph the page</a:t>
            </a:r>
          </a:p>
        </p:txBody>
      </p:sp>
      <p:cxnSp>
        <p:nvCxnSpPr>
          <p:cNvPr id="100" name="Connector 99"/>
          <p:cNvCxnSpPr/>
          <p:nvPr/>
        </p:nvCxnSpPr>
        <p:spPr>
          <a:xfrm>
            <a:off x="1801368" y="1920240"/>
            <a:ext cx="23774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Rounded Rectangle 100"/>
          <p:cNvSpPr/>
          <p:nvPr/>
        </p:nvSpPr>
        <p:spPr>
          <a:xfrm>
            <a:off x="2057400" y="1463040"/>
            <a:ext cx="1463040" cy="91440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Box 101"/>
          <p:cNvSpPr txBox="1"/>
          <p:nvPr/>
        </p:nvSpPr>
        <p:spPr>
          <a:xfrm>
            <a:off x="2103120" y="153619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Gemini finds and reads it</a:t>
            </a:r>
          </a:p>
        </p:txBody>
      </p:sp>
      <p:cxnSp>
        <p:nvCxnSpPr>
          <p:cNvPr id="103" name="Connector 102"/>
          <p:cNvCxnSpPr/>
          <p:nvPr/>
        </p:nvCxnSpPr>
        <p:spPr>
          <a:xfrm>
            <a:off x="3538728" y="1920240"/>
            <a:ext cx="23774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4" name="Rounded Rectangle 103"/>
          <p:cNvSpPr/>
          <p:nvPr/>
        </p:nvSpPr>
        <p:spPr>
          <a:xfrm>
            <a:off x="3794759" y="1463040"/>
            <a:ext cx="1463040" cy="91440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3840479" y="153619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Gemini checks its drawing</a:t>
            </a:r>
          </a:p>
        </p:txBody>
      </p:sp>
      <p:cxnSp>
        <p:nvCxnSpPr>
          <p:cNvPr id="106" name="Connector 105"/>
          <p:cNvCxnSpPr/>
          <p:nvPr/>
        </p:nvCxnSpPr>
        <p:spPr>
          <a:xfrm>
            <a:off x="5276088" y="1920240"/>
            <a:ext cx="237743"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7" name="Rounded Rectangle 106"/>
          <p:cNvSpPr/>
          <p:nvPr/>
        </p:nvSpPr>
        <p:spPr>
          <a:xfrm>
            <a:off x="5532119" y="1463040"/>
            <a:ext cx="1463040" cy="91440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Box 107"/>
          <p:cNvSpPr txBox="1"/>
          <p:nvPr/>
        </p:nvSpPr>
        <p:spPr>
          <a:xfrm>
            <a:off x="5577839" y="153619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Code draws, rules pass</a:t>
            </a:r>
          </a:p>
        </p:txBody>
      </p:sp>
      <p:cxnSp>
        <p:nvCxnSpPr>
          <p:cNvPr id="109" name="Connector 108"/>
          <p:cNvCxnSpPr/>
          <p:nvPr/>
        </p:nvCxnSpPr>
        <p:spPr>
          <a:xfrm>
            <a:off x="7013447" y="1920240"/>
            <a:ext cx="23774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0" name="Rounded Rectangle 109"/>
          <p:cNvSpPr/>
          <p:nvPr/>
        </p:nvSpPr>
        <p:spPr>
          <a:xfrm>
            <a:off x="7269479" y="1463040"/>
            <a:ext cx="1463040" cy="91440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Box 110"/>
          <p:cNvSpPr txBox="1"/>
          <p:nvPr/>
        </p:nvSpPr>
        <p:spPr>
          <a:xfrm>
            <a:off x="7315199" y="153619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Teacher approves, prints</a:t>
            </a:r>
          </a:p>
        </p:txBody>
      </p:sp>
      <p:sp>
        <p:nvSpPr>
          <p:cNvPr id="112" name="Rounded Rectangle 111"/>
          <p:cNvSpPr/>
          <p:nvPr/>
        </p:nvSpPr>
        <p:spPr>
          <a:xfrm>
            <a:off x="320040" y="3337560"/>
            <a:ext cx="1463040" cy="91440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365759" y="341071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Feels the sheet</a:t>
            </a:r>
          </a:p>
        </p:txBody>
      </p:sp>
      <p:cxnSp>
        <p:nvCxnSpPr>
          <p:cNvPr id="114" name="Connector 113"/>
          <p:cNvCxnSpPr/>
          <p:nvPr/>
        </p:nvCxnSpPr>
        <p:spPr>
          <a:xfrm>
            <a:off x="1801368" y="3794760"/>
            <a:ext cx="23774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5" name="Rounded Rectangle 114"/>
          <p:cNvSpPr/>
          <p:nvPr/>
        </p:nvSpPr>
        <p:spPr>
          <a:xfrm>
            <a:off x="2057400" y="3337560"/>
            <a:ext cx="1463040" cy="91440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Box 115"/>
          <p:cNvSpPr txBox="1"/>
          <p:nvPr/>
        </p:nvSpPr>
        <p:spPr>
          <a:xfrm>
            <a:off x="2103120" y="341071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Says the sheet number</a:t>
            </a:r>
          </a:p>
        </p:txBody>
      </p:sp>
      <p:cxnSp>
        <p:nvCxnSpPr>
          <p:cNvPr id="117" name="Connector 116"/>
          <p:cNvCxnSpPr/>
          <p:nvPr/>
        </p:nvCxnSpPr>
        <p:spPr>
          <a:xfrm>
            <a:off x="3538728" y="3794760"/>
            <a:ext cx="23774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Rounded Rectangle 117"/>
          <p:cNvSpPr/>
          <p:nvPr/>
        </p:nvSpPr>
        <p:spPr>
          <a:xfrm>
            <a:off x="3794759" y="3337560"/>
            <a:ext cx="1463040" cy="91440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3840479" y="341071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Explores part by part</a:t>
            </a:r>
          </a:p>
        </p:txBody>
      </p:sp>
      <p:cxnSp>
        <p:nvCxnSpPr>
          <p:cNvPr id="120" name="Connector 119"/>
          <p:cNvCxnSpPr/>
          <p:nvPr/>
        </p:nvCxnSpPr>
        <p:spPr>
          <a:xfrm>
            <a:off x="5276088" y="3794760"/>
            <a:ext cx="237743"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1" name="Rounded Rectangle 120"/>
          <p:cNvSpPr/>
          <p:nvPr/>
        </p:nvSpPr>
        <p:spPr>
          <a:xfrm>
            <a:off x="5532119" y="3337560"/>
            <a:ext cx="1463040" cy="91440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5577839" y="341071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Points: “what is this?”</a:t>
            </a:r>
          </a:p>
        </p:txBody>
      </p:sp>
      <p:cxnSp>
        <p:nvCxnSpPr>
          <p:cNvPr id="123" name="Connector 122"/>
          <p:cNvCxnSpPr/>
          <p:nvPr/>
        </p:nvCxnSpPr>
        <p:spPr>
          <a:xfrm>
            <a:off x="7013447" y="3794760"/>
            <a:ext cx="237744"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4" name="Rounded Rectangle 123"/>
          <p:cNvSpPr/>
          <p:nvPr/>
        </p:nvSpPr>
        <p:spPr>
          <a:xfrm>
            <a:off x="7269479" y="3337560"/>
            <a:ext cx="1463040" cy="91440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7315199" y="3410712"/>
            <a:ext cx="1371600" cy="777240"/>
          </a:xfrm>
          <a:prstGeom prst="rect">
            <a:avLst/>
          </a:prstGeom>
          <a:noFill/>
        </p:spPr>
        <p:txBody>
          <a:bodyPr wrap="square" lIns="36576" rIns="36576" tIns="18288" bIns="18288" anchor="ctr">
            <a:spAutoFit/>
          </a:bodyPr>
          <a:lstStyle/>
          <a:p>
            <a:pPr algn="ctr">
              <a:spcAft>
                <a:spcPts val="400"/>
              </a:spcAft>
            </a:pPr>
            <a:r>
              <a:rPr sz="1100" b="1" i="0">
                <a:solidFill>
                  <a:srgbClr val="000000"/>
                </a:solidFill>
                <a:latin typeface="Google Sans Flex"/>
              </a:rPr>
              <a:t>Asks; Gemini answers, spoken</a:t>
            </a:r>
          </a:p>
        </p:txBody>
      </p:sp>
      <p:cxnSp>
        <p:nvCxnSpPr>
          <p:cNvPr id="126" name="Connector 125"/>
          <p:cNvCxnSpPr/>
          <p:nvPr/>
        </p:nvCxnSpPr>
        <p:spPr>
          <a:xfrm flipH="1">
            <a:off x="1051560" y="2395728"/>
            <a:ext cx="6949440" cy="923544"/>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7" name="TextBox 126"/>
          <p:cNvSpPr txBox="1"/>
          <p:nvPr/>
        </p:nvSpPr>
        <p:spPr>
          <a:xfrm>
            <a:off x="2926080" y="2514600"/>
            <a:ext cx="3291840" cy="320040"/>
          </a:xfrm>
          <a:prstGeom prst="rect">
            <a:avLst/>
          </a:prstGeom>
          <a:noFill/>
        </p:spPr>
        <p:txBody>
          <a:bodyPr wrap="square" lIns="36576" rIns="36576" tIns="18288" bIns="18288" anchor="t">
            <a:spAutoFit/>
          </a:bodyPr>
          <a:lstStyle/>
          <a:p>
            <a:pPr algn="ctr">
              <a:spcAft>
                <a:spcPts val="400"/>
              </a:spcAft>
            </a:pPr>
            <a:r>
              <a:rPr sz="900" b="0" i="0">
                <a:solidFill>
                  <a:srgbClr val="555555"/>
                </a:solidFill>
                <a:latin typeface="Google Sans Flex"/>
              </a:rPr>
              <a:t>the printed sheet goes to the student</a:t>
            </a:r>
          </a:p>
        </p:txBody>
      </p:sp>
      <p:sp>
        <p:nvSpPr>
          <p:cNvPr id="128" name="TextBox 127"/>
          <p:cNvSpPr txBox="1"/>
          <p:nvPr/>
        </p:nvSpPr>
        <p:spPr>
          <a:xfrm>
            <a:off x="320040" y="4434840"/>
            <a:ext cx="8503920" cy="457200"/>
          </a:xfrm>
          <a:prstGeom prst="rect">
            <a:avLst/>
          </a:prstGeom>
          <a:noFill/>
        </p:spPr>
        <p:txBody>
          <a:bodyPr wrap="square" lIns="36576" rIns="36576" tIns="18288" bIns="18288" anchor="t">
            <a:spAutoFit/>
          </a:bodyPr>
          <a:lstStyle/>
          <a:p>
            <a:pPr algn="l">
              <a:spcAft>
                <a:spcPts val="400"/>
              </a:spcAft>
            </a:pPr>
            <a:r>
              <a:rPr sz="1000" b="0" i="0">
                <a:solidFill>
                  <a:srgbClr val="555555"/>
                </a:solidFill>
                <a:latin typeface="Google Sans Flex"/>
              </a:rPr>
              <a:t>Gemini does the understanding: finding and reading the figure, checking its own drawing against the page, hearing the question. Timbul's own code does the drawing, the braille and the rule checks, so the voice and the paper never disagree.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 the working screens</a:t>
            </a:r>
            <a:endParaRPr sz="1600">
              <a:latin typeface="Google Sans Flex Medium"/>
              <a:ea typeface="Google Sans Flex Medium"/>
              <a:cs typeface="Google Sans Flex Medium"/>
              <a:sym typeface="Google Sans Flex Medium"/>
            </a:endParaRPr>
          </a:p>
        </p:txBody>
      </p:sp>
      <p:pic>
        <p:nvPicPr>
          <p:cNvPr id="104" name="Picture 103" descr="library.png"/>
          <p:cNvPicPr>
            <a:picLocks noChangeAspect="1"/>
          </p:cNvPicPr>
          <p:nvPr/>
        </p:nvPicPr>
        <p:blipFill>
          <a:blip r:embed="rId5"/>
          <a:stretch>
            <a:fillRect/>
          </a:stretch>
        </p:blipFill>
        <p:spPr>
          <a:xfrm>
            <a:off x="320040" y="1325880"/>
            <a:ext cx="2697480" cy="1517332"/>
          </a:xfrm>
          <a:prstGeom prst="rect">
            <a:avLst/>
          </a:prstGeom>
          <a:ln w="12700">
            <a:solidFill>
              <a:srgbClr val="000000"/>
            </a:solidFill>
          </a:ln>
        </p:spPr>
      </p:pic>
      <p:sp>
        <p:nvSpPr>
          <p:cNvPr id="105" name="TextBox 104"/>
          <p:cNvSpPr txBox="1"/>
          <p:nvPr/>
        </p:nvSpPr>
        <p:spPr>
          <a:xfrm>
            <a:off x="320040" y="3127248"/>
            <a:ext cx="2697480" cy="45720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Class library: open a sheet by voice, or add a page</a:t>
            </a:r>
          </a:p>
        </p:txBody>
      </p:sp>
      <p:pic>
        <p:nvPicPr>
          <p:cNvPr id="106" name="Picture 105" descr="add-done.png"/>
          <p:cNvPicPr>
            <a:picLocks noChangeAspect="1"/>
          </p:cNvPicPr>
          <p:nvPr/>
        </p:nvPicPr>
        <p:blipFill>
          <a:blip r:embed="rId6"/>
          <a:stretch>
            <a:fillRect/>
          </a:stretch>
        </p:blipFill>
        <p:spPr>
          <a:xfrm>
            <a:off x="3182112" y="1325880"/>
            <a:ext cx="2697480" cy="1517332"/>
          </a:xfrm>
          <a:prstGeom prst="rect">
            <a:avLst/>
          </a:prstGeom>
          <a:ln w="12700">
            <a:solidFill>
              <a:srgbClr val="000000"/>
            </a:solidFill>
          </a:ln>
        </p:spPr>
      </p:pic>
      <p:sp>
        <p:nvSpPr>
          <p:cNvPr id="107" name="TextBox 106"/>
          <p:cNvSpPr txBox="1"/>
          <p:nvPr/>
        </p:nvSpPr>
        <p:spPr>
          <a:xfrm>
            <a:off x="3182112" y="3127248"/>
            <a:ext cx="2697480" cy="45720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Add a page: Gemini's self-check, four checks, approve</a:t>
            </a:r>
          </a:p>
        </p:txBody>
      </p:sp>
      <p:pic>
        <p:nvPicPr>
          <p:cNvPr id="108" name="Picture 107" descr="explore.png"/>
          <p:cNvPicPr>
            <a:picLocks noChangeAspect="1"/>
          </p:cNvPicPr>
          <p:nvPr/>
        </p:nvPicPr>
        <p:blipFill>
          <a:blip r:embed="rId7"/>
          <a:stretch>
            <a:fillRect/>
          </a:stretch>
        </p:blipFill>
        <p:spPr>
          <a:xfrm>
            <a:off x="6044183" y="1325880"/>
            <a:ext cx="2697480" cy="1517332"/>
          </a:xfrm>
          <a:prstGeom prst="rect">
            <a:avLst/>
          </a:prstGeom>
          <a:ln w="12700">
            <a:solidFill>
              <a:srgbClr val="000000"/>
            </a:solidFill>
          </a:ln>
        </p:spPr>
      </p:pic>
      <p:sp>
        <p:nvSpPr>
          <p:cNvPr id="109" name="TextBox 108"/>
          <p:cNvSpPr txBox="1"/>
          <p:nvPr/>
        </p:nvSpPr>
        <p:spPr>
          <a:xfrm>
            <a:off x="6044183" y="3127248"/>
            <a:ext cx="2697480" cy="45720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Explore: the sheet, part by part, and the voice panel</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320040" y="1325880"/>
            <a:ext cx="1828800" cy="109728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393192" y="1380744"/>
            <a:ext cx="1682496" cy="1005839"/>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Browser</a:t>
            </a:r>
          </a:p>
          <a:p>
            <a:pPr algn="l">
              <a:spcAft>
                <a:spcPts val="100"/>
              </a:spcAft>
            </a:pPr>
            <a:r>
              <a:rPr sz="900" b="0" i="0">
                <a:solidFill>
                  <a:srgbClr val="000000"/>
                </a:solidFill>
                <a:latin typeface="Google Sans Flex"/>
              </a:rPr>
              <a:t>Teacher's laptop or phone; student's phone or laptop with a screen reader. React web app.</a:t>
            </a:r>
          </a:p>
        </p:txBody>
      </p:sp>
      <p:sp>
        <p:nvSpPr>
          <p:cNvPr id="114" name="Rounded Rectangle 113"/>
          <p:cNvSpPr/>
          <p:nvPr/>
        </p:nvSpPr>
        <p:spPr>
          <a:xfrm>
            <a:off x="2606040" y="1325880"/>
            <a:ext cx="1828800" cy="109728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2679192" y="1380744"/>
            <a:ext cx="1682496" cy="1005839"/>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Firebase Hosting</a:t>
            </a:r>
          </a:p>
          <a:p>
            <a:pPr algn="l">
              <a:spcAft>
                <a:spcPts val="100"/>
              </a:spcAft>
            </a:pPr>
            <a:r>
              <a:rPr sz="900" b="0" i="0">
                <a:solidFill>
                  <a:srgbClr val="000000"/>
                </a:solidFill>
                <a:latin typeface="Google Sans Flex"/>
              </a:rPr>
              <a:t>Serves the web app over HTTPS.</a:t>
            </a:r>
          </a:p>
        </p:txBody>
      </p:sp>
      <p:sp>
        <p:nvSpPr>
          <p:cNvPr id="116" name="Rounded Rectangle 115"/>
          <p:cNvSpPr/>
          <p:nvPr/>
        </p:nvSpPr>
        <p:spPr>
          <a:xfrm>
            <a:off x="4892040" y="1325880"/>
            <a:ext cx="1920240" cy="109728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4965192" y="1380744"/>
            <a:ext cx="1773936" cy="1005839"/>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Cloud Run service</a:t>
            </a:r>
          </a:p>
          <a:p>
            <a:pPr algn="l">
              <a:spcAft>
                <a:spcPts val="100"/>
              </a:spcAft>
            </a:pPr>
            <a:r>
              <a:rPr sz="900" b="0" i="0">
                <a:solidFill>
                  <a:srgbClr val="000000"/>
                </a:solidFill>
                <a:latin typeface="Google Sans Flex"/>
              </a:rPr>
              <a:t>One container: the app and the API (/locate, /read, /verify, /ask, /speak, /sheet, /library). Spending guard.</a:t>
            </a:r>
          </a:p>
        </p:txBody>
      </p:sp>
      <p:sp>
        <p:nvSpPr>
          <p:cNvPr id="118" name="Rounded Rectangle 117"/>
          <p:cNvSpPr/>
          <p:nvPr/>
        </p:nvSpPr>
        <p:spPr>
          <a:xfrm>
            <a:off x="7178040" y="1051560"/>
            <a:ext cx="1645920" cy="86868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7251192" y="1106424"/>
            <a:ext cx="1499616" cy="777240"/>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Gemini 3.8 Flash</a:t>
            </a:r>
          </a:p>
          <a:p>
            <a:pPr algn="l">
              <a:spcAft>
                <a:spcPts val="100"/>
              </a:spcAft>
            </a:pPr>
            <a:r>
              <a:rPr sz="900" b="0" i="0">
                <a:solidFill>
                  <a:srgbClr val="000000"/>
                </a:solidFill>
                <a:latin typeface="Google Sans Flex"/>
              </a:rPr>
              <a:t>Reads the figure, checks its own drawing, finds the fingertip on the sheet.</a:t>
            </a:r>
          </a:p>
        </p:txBody>
      </p:sp>
      <p:sp>
        <p:nvSpPr>
          <p:cNvPr id="120" name="Rounded Rectangle 119"/>
          <p:cNvSpPr/>
          <p:nvPr/>
        </p:nvSpPr>
        <p:spPr>
          <a:xfrm>
            <a:off x="7178040" y="2011680"/>
            <a:ext cx="1645920" cy="86868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7251192" y="2066544"/>
            <a:ext cx="1499616" cy="777240"/>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Gemini 3.5 Flash-Lite</a:t>
            </a:r>
          </a:p>
          <a:p>
            <a:pPr algn="l">
              <a:spcAft>
                <a:spcPts val="100"/>
              </a:spcAft>
            </a:pPr>
            <a:r>
              <a:rPr sz="900" b="0" i="0">
                <a:solidFill>
                  <a:srgbClr val="000000"/>
                </a:solidFill>
                <a:latin typeface="Google Sans Flex"/>
              </a:rPr>
              <a:t>Finds the figure; hears questions and sheet numbers; answers.</a:t>
            </a:r>
          </a:p>
        </p:txBody>
      </p:sp>
      <p:sp>
        <p:nvSpPr>
          <p:cNvPr id="122" name="Rounded Rectangle 121"/>
          <p:cNvSpPr/>
          <p:nvPr/>
        </p:nvSpPr>
        <p:spPr>
          <a:xfrm>
            <a:off x="7178040" y="2971800"/>
            <a:ext cx="1645920" cy="86868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7251192" y="3026664"/>
            <a:ext cx="1499616" cy="777240"/>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Gemini 3.8 Flash TTS</a:t>
            </a:r>
          </a:p>
          <a:p>
            <a:pPr algn="l">
              <a:spcAft>
                <a:spcPts val="100"/>
              </a:spcAft>
            </a:pPr>
            <a:r>
              <a:rPr sz="900" b="0" i="0">
                <a:solidFill>
                  <a:srgbClr val="000000"/>
                </a:solidFill>
                <a:latin typeface="Google Sans Flex"/>
              </a:rPr>
              <a:t>Speaks every answer and part name.</a:t>
            </a:r>
          </a:p>
        </p:txBody>
      </p:sp>
      <p:sp>
        <p:nvSpPr>
          <p:cNvPr id="124" name="Rounded Rectangle 123"/>
          <p:cNvSpPr/>
          <p:nvPr/>
        </p:nvSpPr>
        <p:spPr>
          <a:xfrm>
            <a:off x="2606040" y="3017520"/>
            <a:ext cx="1828800" cy="96012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2679192" y="3072384"/>
            <a:ext cx="1682496" cy="868680"/>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Firestore</a:t>
            </a:r>
          </a:p>
          <a:p>
            <a:pPr algn="l">
              <a:spcAft>
                <a:spcPts val="100"/>
              </a:spcAft>
            </a:pPr>
            <a:r>
              <a:rPr sz="900" b="0" i="0">
                <a:solidFill>
                  <a:srgbClr val="000000"/>
                </a:solidFill>
                <a:latin typeface="Google Sans Flex"/>
              </a:rPr>
              <a:t>The class library: approved sheets, their numbers, shared across devices.</a:t>
            </a:r>
          </a:p>
        </p:txBody>
      </p:sp>
      <p:sp>
        <p:nvSpPr>
          <p:cNvPr id="126" name="Rounded Rectangle 125"/>
          <p:cNvSpPr/>
          <p:nvPr/>
        </p:nvSpPr>
        <p:spPr>
          <a:xfrm>
            <a:off x="4892040" y="3017520"/>
            <a:ext cx="1920240" cy="960120"/>
          </a:xfrm>
          <a:prstGeom prst="roundRect">
            <a:avLst>
              <a:gd name="adj" fmla="val 12000"/>
            </a:avLst>
          </a:prstGeom>
          <a:solidFill>
            <a:srgbClr val="FFCC00"/>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4965192" y="3072384"/>
            <a:ext cx="1773936" cy="868680"/>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Secret Manager</a:t>
            </a:r>
          </a:p>
          <a:p>
            <a:pPr algn="l">
              <a:spcAft>
                <a:spcPts val="100"/>
              </a:spcAft>
            </a:pPr>
            <a:r>
              <a:rPr sz="900" b="0" i="0">
                <a:solidFill>
                  <a:srgbClr val="000000"/>
                </a:solidFill>
                <a:latin typeface="Google Sans Flex"/>
              </a:rPr>
              <a:t>The Gemini keys, read by Cloud Run; never in code or the browser.</a:t>
            </a:r>
          </a:p>
        </p:txBody>
      </p:sp>
      <p:sp>
        <p:nvSpPr>
          <p:cNvPr id="128" name="Rounded Rectangle 127"/>
          <p:cNvSpPr/>
          <p:nvPr/>
        </p:nvSpPr>
        <p:spPr>
          <a:xfrm>
            <a:off x="320040" y="3017520"/>
            <a:ext cx="1828800" cy="960120"/>
          </a:xfrm>
          <a:prstGeom prst="roundRect">
            <a:avLst>
              <a:gd name="adj" fmla="val 12000"/>
            </a:avLst>
          </a:prstGeom>
          <a:solidFill>
            <a:srgbClr val="FFFFFF"/>
          </a:solidFill>
          <a:ln w="1905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393192" y="3072384"/>
            <a:ext cx="1682496" cy="868680"/>
          </a:xfrm>
          <a:prstGeom prst="rect">
            <a:avLst/>
          </a:prstGeom>
          <a:noFill/>
        </p:spPr>
        <p:txBody>
          <a:bodyPr wrap="square" lIns="36576" rIns="36576" tIns="18288" bIns="18288" anchor="t">
            <a:spAutoFit/>
          </a:bodyPr>
          <a:lstStyle/>
          <a:p>
            <a:pPr algn="l">
              <a:spcAft>
                <a:spcPts val="100"/>
              </a:spcAft>
            </a:pPr>
            <a:r>
              <a:rPr sz="1150" b="1" i="0">
                <a:solidFill>
                  <a:srgbClr val="000000"/>
                </a:solidFill>
                <a:latin typeface="Google Sans Flex"/>
              </a:rPr>
              <a:t>Timbul's code (in the app)</a:t>
            </a:r>
          </a:p>
          <a:p>
            <a:pPr algn="l">
              <a:spcAft>
                <a:spcPts val="100"/>
              </a:spcAft>
            </a:pPr>
            <a:r>
              <a:rPr sz="900" b="0" i="0">
                <a:solidFill>
                  <a:srgbClr val="000000"/>
                </a:solidFill>
                <a:latin typeface="Google Sans Flex"/>
              </a:rPr>
              <a:t>Dot layout, braille, rule checks, A4 SVG export.</a:t>
            </a:r>
          </a:p>
        </p:txBody>
      </p:sp>
      <p:cxnSp>
        <p:nvCxnSpPr>
          <p:cNvPr id="130" name="Connector 129"/>
          <p:cNvCxnSpPr/>
          <p:nvPr/>
        </p:nvCxnSpPr>
        <p:spPr>
          <a:xfrm>
            <a:off x="2148840" y="1874519"/>
            <a:ext cx="438912"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4434840" y="1874519"/>
            <a:ext cx="438912" cy="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6812280" y="1481328"/>
            <a:ext cx="347472" cy="164592"/>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6812280" y="1874519"/>
            <a:ext cx="347472" cy="566929"/>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6812280" y="2103120"/>
            <a:ext cx="347472" cy="1280160"/>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5852160" y="2423160"/>
            <a:ext cx="0" cy="576072"/>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a:off x="3657600" y="2423160"/>
            <a:ext cx="1463040" cy="576072"/>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234440" y="2423160"/>
            <a:ext cx="0" cy="576072"/>
          </a:xfrm>
          <a:prstGeom prst="line">
            <a:avLst/>
          </a:prstGeom>
          <a:ln w="25400">
            <a:solidFill>
              <a:srgbClr val="0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320040" y="4160520"/>
            <a:ext cx="8503920" cy="731520"/>
          </a:xfrm>
          <a:prstGeom prst="rect">
            <a:avLst/>
          </a:prstGeom>
          <a:noFill/>
        </p:spPr>
        <p:txBody>
          <a:bodyPr wrap="square" lIns="36576" rIns="36576" tIns="18288" bIns="18288" anchor="t">
            <a:spAutoFit/>
          </a:bodyPr>
          <a:lstStyle/>
          <a:p>
            <a:pPr algn="l">
              <a:spcAft>
                <a:spcPts val="400"/>
              </a:spcAft>
            </a:pPr>
            <a:r>
              <a:rPr sz="950" b="0" i="0">
                <a:solidFill>
                  <a:srgbClr val="555555"/>
                </a:solidFill>
                <a:latin typeface="Google Sans Flex"/>
              </a:rPr>
              <a:t>Gemini is called through Google's Gemini API, trying several Gemini models when one is busy; OpenRouter (the same Gemini models) is the backup. Cloud Run is capped at one instance and the API refuses calls past a daily limit, so the demo stays inside the free tier.</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20040" y="1234440"/>
            <a:ext cx="2011680" cy="411480"/>
          </a:xfrm>
          <a:prstGeom prst="roundRect">
            <a:avLst>
              <a:gd name="adj" fmla="val 12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411479" y="1261872"/>
            <a:ext cx="1828800" cy="365760"/>
          </a:xfrm>
          <a:prstGeom prst="rect">
            <a:avLst/>
          </a:prstGeom>
          <a:noFill/>
        </p:spPr>
        <p:txBody>
          <a:bodyPr wrap="square" lIns="36576" rIns="36576" tIns="18288" bIns="18288" anchor="ctr">
            <a:spAutoFit/>
          </a:bodyPr>
          <a:lstStyle/>
          <a:p>
            <a:pPr algn="l">
              <a:spcAft>
                <a:spcPts val="400"/>
              </a:spcAft>
            </a:pPr>
            <a:r>
              <a:rPr sz="1200" b="1" i="0">
                <a:solidFill>
                  <a:srgbClr val="FFCC00"/>
                </a:solidFill>
                <a:latin typeface="Google Sans Flex"/>
              </a:rPr>
              <a:t>Google AI</a:t>
            </a:r>
          </a:p>
        </p:txBody>
      </p:sp>
      <p:sp>
        <p:nvSpPr>
          <p:cNvPr id="122" name="TextBox 121"/>
          <p:cNvSpPr txBox="1"/>
          <p:nvPr/>
        </p:nvSpPr>
        <p:spPr>
          <a:xfrm>
            <a:off x="365759" y="1783080"/>
            <a:ext cx="1938528" cy="3017520"/>
          </a:xfrm>
          <a:prstGeom prst="rect">
            <a:avLst/>
          </a:prstGeom>
          <a:noFill/>
        </p:spPr>
        <p:txBody>
          <a:bodyPr wrap="square" lIns="36576" rIns="36576" tIns="18288" bIns="18288" anchor="t">
            <a:spAutoFit/>
          </a:bodyPr>
          <a:lstStyle/>
          <a:p>
            <a:pPr algn="l">
              <a:spcAft>
                <a:spcPts val="700"/>
              </a:spcAft>
            </a:pPr>
            <a:r>
              <a:rPr sz="1000" b="0" i="0">
                <a:solidFill>
                  <a:srgbClr val="000000"/>
                </a:solidFill>
                <a:latin typeface="Google Sans Flex"/>
              </a:rPr>
              <a:t>Gemini 3.8 Flash: reads figures into structured JSON, checks its own drawing, and finds a fingertip on the printed sheet (vision, two images)</a:t>
            </a:r>
          </a:p>
          <a:p>
            <a:pPr algn="l">
              <a:spcAft>
                <a:spcPts val="700"/>
              </a:spcAft>
            </a:pPr>
            <a:r>
              <a:rPr sz="1000" b="0" i="0">
                <a:solidFill>
                  <a:srgbClr val="000000"/>
                </a:solidFill>
                <a:latin typeface="Google Sans Flex"/>
              </a:rPr>
              <a:t>Gemini 3.5 Flash-Lite: finds the figure; spoken questions and sheet numbers (audio in)</a:t>
            </a:r>
          </a:p>
          <a:p>
            <a:pPr algn="l">
              <a:spcAft>
                <a:spcPts val="700"/>
              </a:spcAft>
            </a:pPr>
            <a:r>
              <a:rPr sz="1000" b="0" i="0">
                <a:solidFill>
                  <a:srgbClr val="000000"/>
                </a:solidFill>
                <a:latin typeface="Google Sans Flex"/>
              </a:rPr>
              <a:t>Gemini 3.8 Flash TTS: Timbul's voice</a:t>
            </a:r>
          </a:p>
          <a:p>
            <a:pPr algn="l">
              <a:spcAft>
                <a:spcPts val="700"/>
              </a:spcAft>
            </a:pPr>
            <a:r>
              <a:rPr sz="1000" b="0" i="0">
                <a:solidFill>
                  <a:srgbClr val="000000"/>
                </a:solidFill>
                <a:latin typeface="Google Sans Flex"/>
              </a:rPr>
              <a:t>Fallbacks: Gemini 3.7, 3.6 and 3.5 Flash</a:t>
            </a:r>
          </a:p>
        </p:txBody>
      </p:sp>
      <p:sp>
        <p:nvSpPr>
          <p:cNvPr id="123" name="Rounded Rectangle 122"/>
          <p:cNvSpPr/>
          <p:nvPr/>
        </p:nvSpPr>
        <p:spPr>
          <a:xfrm>
            <a:off x="2478024" y="1234440"/>
            <a:ext cx="2011680" cy="411480"/>
          </a:xfrm>
          <a:prstGeom prst="roundRect">
            <a:avLst>
              <a:gd name="adj" fmla="val 12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2569464" y="1261872"/>
            <a:ext cx="1828800" cy="365760"/>
          </a:xfrm>
          <a:prstGeom prst="rect">
            <a:avLst/>
          </a:prstGeom>
          <a:noFill/>
        </p:spPr>
        <p:txBody>
          <a:bodyPr wrap="square" lIns="36576" rIns="36576" tIns="18288" bIns="18288" anchor="ctr">
            <a:spAutoFit/>
          </a:bodyPr>
          <a:lstStyle/>
          <a:p>
            <a:pPr algn="l">
              <a:spcAft>
                <a:spcPts val="400"/>
              </a:spcAft>
            </a:pPr>
            <a:r>
              <a:rPr sz="1200" b="1" i="0">
                <a:solidFill>
                  <a:srgbClr val="FFCC00"/>
                </a:solidFill>
                <a:latin typeface="Google Sans Flex"/>
              </a:rPr>
              <a:t>Google Cloud</a:t>
            </a:r>
          </a:p>
        </p:txBody>
      </p:sp>
      <p:sp>
        <p:nvSpPr>
          <p:cNvPr id="125" name="TextBox 124"/>
          <p:cNvSpPr txBox="1"/>
          <p:nvPr/>
        </p:nvSpPr>
        <p:spPr>
          <a:xfrm>
            <a:off x="2523744" y="1783080"/>
            <a:ext cx="1938528" cy="3017520"/>
          </a:xfrm>
          <a:prstGeom prst="rect">
            <a:avLst/>
          </a:prstGeom>
          <a:noFill/>
        </p:spPr>
        <p:txBody>
          <a:bodyPr wrap="square" lIns="36576" rIns="36576" tIns="18288" bIns="18288" anchor="t">
            <a:spAutoFit/>
          </a:bodyPr>
          <a:lstStyle/>
          <a:p>
            <a:pPr algn="l">
              <a:spcAft>
                <a:spcPts val="700"/>
              </a:spcAft>
            </a:pPr>
            <a:r>
              <a:rPr sz="1000" b="0" i="0">
                <a:solidFill>
                  <a:srgbClr val="000000"/>
                </a:solidFill>
                <a:latin typeface="Google Sans Flex"/>
              </a:rPr>
              <a:t>Cloud Run: the app and its API</a:t>
            </a:r>
          </a:p>
          <a:p>
            <a:pPr algn="l">
              <a:spcAft>
                <a:spcPts val="700"/>
              </a:spcAft>
            </a:pPr>
            <a:r>
              <a:rPr sz="1000" b="0" i="0">
                <a:solidFill>
                  <a:srgbClr val="000000"/>
                </a:solidFill>
                <a:latin typeface="Google Sans Flex"/>
              </a:rPr>
              <a:t>Firestore: the class library</a:t>
            </a:r>
          </a:p>
          <a:p>
            <a:pPr algn="l">
              <a:spcAft>
                <a:spcPts val="700"/>
              </a:spcAft>
            </a:pPr>
            <a:r>
              <a:rPr sz="1000" b="0" i="0">
                <a:solidFill>
                  <a:srgbClr val="000000"/>
                </a:solidFill>
                <a:latin typeface="Google Sans Flex"/>
              </a:rPr>
              <a:t>Secret Manager: the keys</a:t>
            </a:r>
          </a:p>
          <a:p>
            <a:pPr algn="l">
              <a:spcAft>
                <a:spcPts val="700"/>
              </a:spcAft>
            </a:pPr>
            <a:r>
              <a:rPr sz="1000" b="0" i="0">
                <a:solidFill>
                  <a:srgbClr val="000000"/>
                </a:solidFill>
                <a:latin typeface="Google Sans Flex"/>
              </a:rPr>
              <a:t>Cloud Build and Artifact Registry</a:t>
            </a:r>
          </a:p>
          <a:p>
            <a:pPr algn="l">
              <a:spcAft>
                <a:spcPts val="700"/>
              </a:spcAft>
            </a:pPr>
            <a:r>
              <a:rPr sz="1000" b="0" i="0">
                <a:solidFill>
                  <a:srgbClr val="000000"/>
                </a:solidFill>
                <a:latin typeface="Google Sans Flex"/>
              </a:rPr>
              <a:t>Firebase Hosting: the short address</a:t>
            </a:r>
          </a:p>
        </p:txBody>
      </p:sp>
      <p:sp>
        <p:nvSpPr>
          <p:cNvPr id="126" name="Rounded Rectangle 125"/>
          <p:cNvSpPr/>
          <p:nvPr/>
        </p:nvSpPr>
        <p:spPr>
          <a:xfrm>
            <a:off x="4636007" y="1234440"/>
            <a:ext cx="2011680" cy="411480"/>
          </a:xfrm>
          <a:prstGeom prst="roundRect">
            <a:avLst>
              <a:gd name="adj" fmla="val 12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4727447" y="1261872"/>
            <a:ext cx="1828800" cy="365760"/>
          </a:xfrm>
          <a:prstGeom prst="rect">
            <a:avLst/>
          </a:prstGeom>
          <a:noFill/>
        </p:spPr>
        <p:txBody>
          <a:bodyPr wrap="square" lIns="36576" rIns="36576" tIns="18288" bIns="18288" anchor="ctr">
            <a:spAutoFit/>
          </a:bodyPr>
          <a:lstStyle/>
          <a:p>
            <a:pPr algn="l">
              <a:spcAft>
                <a:spcPts val="400"/>
              </a:spcAft>
            </a:pPr>
            <a:r>
              <a:rPr sz="1200" b="1" i="0">
                <a:solidFill>
                  <a:srgbClr val="FFCC00"/>
                </a:solidFill>
                <a:latin typeface="Google Sans Flex"/>
              </a:rPr>
              <a:t>Our own code</a:t>
            </a:r>
          </a:p>
        </p:txBody>
      </p:sp>
      <p:sp>
        <p:nvSpPr>
          <p:cNvPr id="128" name="TextBox 127"/>
          <p:cNvSpPr txBox="1"/>
          <p:nvPr/>
        </p:nvSpPr>
        <p:spPr>
          <a:xfrm>
            <a:off x="4681727" y="1783080"/>
            <a:ext cx="1938528" cy="3017520"/>
          </a:xfrm>
          <a:prstGeom prst="rect">
            <a:avLst/>
          </a:prstGeom>
          <a:noFill/>
        </p:spPr>
        <p:txBody>
          <a:bodyPr wrap="square" lIns="36576" rIns="36576" tIns="18288" bIns="18288" anchor="t">
            <a:spAutoFit/>
          </a:bodyPr>
          <a:lstStyle/>
          <a:p>
            <a:pPr algn="l">
              <a:spcAft>
                <a:spcPts val="700"/>
              </a:spcAft>
            </a:pPr>
            <a:r>
              <a:rPr sz="1000" b="0" i="0">
                <a:solidFill>
                  <a:srgbClr val="000000"/>
                </a:solidFill>
                <a:latin typeface="Google Sans Flex"/>
              </a:rPr>
              <a:t>Tactile layout engine: dots, occlusion, label placement</a:t>
            </a:r>
          </a:p>
          <a:p>
            <a:pPr algn="l">
              <a:spcAft>
                <a:spcPts val="700"/>
              </a:spcAft>
            </a:pPr>
            <a:r>
              <a:rPr sz="1000" b="0" i="0">
                <a:solidFill>
                  <a:srgbClr val="000000"/>
                </a:solidFill>
                <a:latin typeface="Google Sans Flex"/>
              </a:rPr>
              <a:t>Uncontracted braille in standard 6 mm cells</a:t>
            </a:r>
          </a:p>
          <a:p>
            <a:pPr algn="l">
              <a:spcAft>
                <a:spcPts val="700"/>
              </a:spcAft>
            </a:pPr>
            <a:r>
              <a:rPr sz="1000" b="0" i="0">
                <a:solidFill>
                  <a:srgbClr val="000000"/>
                </a:solidFill>
                <a:latin typeface="Google Sans Flex"/>
              </a:rPr>
              <a:t>Four rule checks with automatic fixes</a:t>
            </a:r>
          </a:p>
          <a:p>
            <a:pPr algn="l">
              <a:spcAft>
                <a:spcPts val="700"/>
              </a:spcAft>
            </a:pPr>
            <a:r>
              <a:rPr sz="1000" b="0" i="0">
                <a:solidFill>
                  <a:srgbClr val="000000"/>
                </a:solidFill>
                <a:latin typeface="Google Sans Flex"/>
              </a:rPr>
              <a:t>A4 SVG export at real millimetres</a:t>
            </a:r>
          </a:p>
        </p:txBody>
      </p:sp>
      <p:sp>
        <p:nvSpPr>
          <p:cNvPr id="129" name="Rounded Rectangle 128"/>
          <p:cNvSpPr/>
          <p:nvPr/>
        </p:nvSpPr>
        <p:spPr>
          <a:xfrm>
            <a:off x="6793992" y="1234440"/>
            <a:ext cx="2011680" cy="411480"/>
          </a:xfrm>
          <a:prstGeom prst="roundRect">
            <a:avLst>
              <a:gd name="adj" fmla="val 12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6885431" y="1261872"/>
            <a:ext cx="1828800" cy="365760"/>
          </a:xfrm>
          <a:prstGeom prst="rect">
            <a:avLst/>
          </a:prstGeom>
          <a:noFill/>
        </p:spPr>
        <p:txBody>
          <a:bodyPr wrap="square" lIns="36576" rIns="36576" tIns="18288" bIns="18288" anchor="ctr">
            <a:spAutoFit/>
          </a:bodyPr>
          <a:lstStyle/>
          <a:p>
            <a:pPr algn="l">
              <a:spcAft>
                <a:spcPts val="400"/>
              </a:spcAft>
            </a:pPr>
            <a:r>
              <a:rPr sz="1200" b="1" i="0">
                <a:solidFill>
                  <a:srgbClr val="FFCC00"/>
                </a:solidFill>
                <a:latin typeface="Google Sans Flex"/>
              </a:rPr>
              <a:t>App</a:t>
            </a:r>
          </a:p>
        </p:txBody>
      </p:sp>
      <p:sp>
        <p:nvSpPr>
          <p:cNvPr id="131" name="TextBox 130"/>
          <p:cNvSpPr txBox="1"/>
          <p:nvPr/>
        </p:nvSpPr>
        <p:spPr>
          <a:xfrm>
            <a:off x="6839712" y="1783080"/>
            <a:ext cx="1938528" cy="3017520"/>
          </a:xfrm>
          <a:prstGeom prst="rect">
            <a:avLst/>
          </a:prstGeom>
          <a:noFill/>
        </p:spPr>
        <p:txBody>
          <a:bodyPr wrap="square" lIns="36576" rIns="36576" tIns="18288" bIns="18288" anchor="t">
            <a:spAutoFit/>
          </a:bodyPr>
          <a:lstStyle/>
          <a:p>
            <a:pPr algn="l">
              <a:spcAft>
                <a:spcPts val="700"/>
              </a:spcAft>
            </a:pPr>
            <a:r>
              <a:rPr sz="1000" b="0" i="0">
                <a:solidFill>
                  <a:srgbClr val="000000"/>
                </a:solidFill>
                <a:latin typeface="Google Sans Flex"/>
              </a:rPr>
              <a:t>React, TypeScript, Vite</a:t>
            </a:r>
          </a:p>
          <a:p>
            <a:pPr algn="l">
              <a:spcAft>
                <a:spcPts val="700"/>
              </a:spcAft>
            </a:pPr>
            <a:r>
              <a:rPr sz="1000" b="0" i="0">
                <a:solidFill>
                  <a:srgbClr val="000000"/>
                </a:solidFill>
                <a:latin typeface="Google Sans Flex"/>
              </a:rPr>
              <a:t>Web Audio microphone capture</a:t>
            </a:r>
          </a:p>
          <a:p>
            <a:pPr algn="l">
              <a:spcAft>
                <a:spcPts val="700"/>
              </a:spcAft>
            </a:pPr>
            <a:r>
              <a:rPr sz="1000" b="0" i="0">
                <a:solidFill>
                  <a:srgbClr val="000000"/>
                </a:solidFill>
                <a:latin typeface="Google Sans Flex"/>
              </a:rPr>
              <a:t>IndexedDB copy for offline use</a:t>
            </a:r>
          </a:p>
          <a:p>
            <a:pPr algn="l">
              <a:spcAft>
                <a:spcPts val="700"/>
              </a:spcAft>
            </a:pPr>
            <a:r>
              <a:rPr sz="1000" b="0" i="0">
                <a:solidFill>
                  <a:srgbClr val="000000"/>
                </a:solidFill>
                <a:latin typeface="Google Sans Flex"/>
              </a:rPr>
              <a:t>Screen-reader labels, keyboard use</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320040" y="1188720"/>
            <a:ext cx="1554480" cy="54864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411480" y="1225296"/>
            <a:ext cx="1417320" cy="475488"/>
          </a:xfrm>
          <a:prstGeom prst="rect">
            <a:avLst/>
          </a:prstGeom>
          <a:noFill/>
        </p:spPr>
        <p:txBody>
          <a:bodyPr wrap="square" lIns="36576" rIns="36576" tIns="18288" bIns="18288" anchor="ctr">
            <a:spAutoFit/>
          </a:bodyPr>
          <a:lstStyle/>
          <a:p>
            <a:pPr algn="l">
              <a:spcAft>
                <a:spcPts val="400"/>
              </a:spcAft>
            </a:pPr>
            <a:r>
              <a:rPr sz="1200" b="1" i="0">
                <a:solidFill>
                  <a:srgbClr val="000000"/>
                </a:solidFill>
                <a:latin typeface="Google Sans Flex"/>
              </a:rPr>
              <a:t>One figure</a:t>
            </a:r>
          </a:p>
        </p:txBody>
      </p:sp>
      <p:sp>
        <p:nvSpPr>
          <p:cNvPr id="130" name="TextBox 129"/>
          <p:cNvSpPr txBox="1"/>
          <p:nvPr/>
        </p:nvSpPr>
        <p:spPr>
          <a:xfrm>
            <a:off x="2011680" y="1207008"/>
            <a:ext cx="6812280" cy="512063"/>
          </a:xfrm>
          <a:prstGeom prst="rect">
            <a:avLst/>
          </a:prstGeom>
          <a:noFill/>
        </p:spPr>
        <p:txBody>
          <a:bodyPr wrap="square" lIns="36576" rIns="36576" tIns="18288" bIns="18288" anchor="ctr">
            <a:spAutoFit/>
          </a:bodyPr>
          <a:lstStyle/>
          <a:p>
            <a:pPr algn="l">
              <a:spcAft>
                <a:spcPts val="100"/>
              </a:spcAft>
            </a:pPr>
            <a:r>
              <a:rPr sz="950" b="0" i="0">
                <a:solidFill>
                  <a:srgbClr val="000000"/>
                </a:solidFill>
                <a:latin typeface="Google Sans Flex"/>
              </a:rPr>
              <a:t>Three to five Gemini calls: find the figure, read it, check the drawing (twice at most). Drawing, braille and rule checks run in Timbul's own code.</a:t>
            </a:r>
          </a:p>
        </p:txBody>
      </p:sp>
      <p:sp>
        <p:nvSpPr>
          <p:cNvPr id="131" name="Rounded Rectangle 130"/>
          <p:cNvSpPr/>
          <p:nvPr/>
        </p:nvSpPr>
        <p:spPr>
          <a:xfrm>
            <a:off x="320040" y="1828800"/>
            <a:ext cx="1554480" cy="54864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411480" y="1865376"/>
            <a:ext cx="1417320" cy="475488"/>
          </a:xfrm>
          <a:prstGeom prst="rect">
            <a:avLst/>
          </a:prstGeom>
          <a:noFill/>
        </p:spPr>
        <p:txBody>
          <a:bodyPr wrap="square" lIns="36576" rIns="36576" tIns="18288" bIns="18288" anchor="ctr">
            <a:spAutoFit/>
          </a:bodyPr>
          <a:lstStyle/>
          <a:p>
            <a:pPr algn="l">
              <a:spcAft>
                <a:spcPts val="400"/>
              </a:spcAft>
            </a:pPr>
            <a:r>
              <a:rPr sz="1200" b="1" i="0">
                <a:solidFill>
                  <a:srgbClr val="000000"/>
                </a:solidFill>
                <a:latin typeface="Google Sans Flex"/>
              </a:rPr>
              <a:t>One question</a:t>
            </a:r>
          </a:p>
        </p:txBody>
      </p:sp>
      <p:sp>
        <p:nvSpPr>
          <p:cNvPr id="133" name="TextBox 132"/>
          <p:cNvSpPr txBox="1"/>
          <p:nvPr/>
        </p:nvSpPr>
        <p:spPr>
          <a:xfrm>
            <a:off x="2011680" y="1847088"/>
            <a:ext cx="6812280" cy="512063"/>
          </a:xfrm>
          <a:prstGeom prst="rect">
            <a:avLst/>
          </a:prstGeom>
          <a:noFill/>
        </p:spPr>
        <p:txBody>
          <a:bodyPr wrap="square" lIns="36576" rIns="36576" tIns="18288" bIns="18288" anchor="ctr">
            <a:spAutoFit/>
          </a:bodyPr>
          <a:lstStyle/>
          <a:p>
            <a:pPr algn="l">
              <a:spcAft>
                <a:spcPts val="100"/>
              </a:spcAft>
            </a:pPr>
            <a:r>
              <a:rPr sz="950" b="0" i="0">
                <a:solidFill>
                  <a:srgbClr val="000000"/>
                </a:solidFill>
                <a:latin typeface="Google Sans Flex"/>
              </a:rPr>
              <a:t>One small Gemini call, plus one speech call; spoken lines are cached and replayed free.</a:t>
            </a:r>
          </a:p>
        </p:txBody>
      </p:sp>
      <p:sp>
        <p:nvSpPr>
          <p:cNvPr id="134" name="Rounded Rectangle 133"/>
          <p:cNvSpPr/>
          <p:nvPr/>
        </p:nvSpPr>
        <p:spPr>
          <a:xfrm>
            <a:off x="320040" y="2468880"/>
            <a:ext cx="1554480" cy="54864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411480" y="2505456"/>
            <a:ext cx="1417320" cy="475488"/>
          </a:xfrm>
          <a:prstGeom prst="rect">
            <a:avLst/>
          </a:prstGeom>
          <a:noFill/>
        </p:spPr>
        <p:txBody>
          <a:bodyPr wrap="square" lIns="36576" rIns="36576" tIns="18288" bIns="18288" anchor="ctr">
            <a:spAutoFit/>
          </a:bodyPr>
          <a:lstStyle/>
          <a:p>
            <a:pPr algn="l">
              <a:spcAft>
                <a:spcPts val="400"/>
              </a:spcAft>
            </a:pPr>
            <a:r>
              <a:rPr sz="1200" b="1" i="0">
                <a:solidFill>
                  <a:srgbClr val="000000"/>
                </a:solidFill>
                <a:latin typeface="Google Sans Flex"/>
              </a:rPr>
              <a:t>Hosting</a:t>
            </a:r>
          </a:p>
        </p:txBody>
      </p:sp>
      <p:sp>
        <p:nvSpPr>
          <p:cNvPr id="136" name="TextBox 135"/>
          <p:cNvSpPr txBox="1"/>
          <p:nvPr/>
        </p:nvSpPr>
        <p:spPr>
          <a:xfrm>
            <a:off x="2011680" y="2487168"/>
            <a:ext cx="6812280" cy="512063"/>
          </a:xfrm>
          <a:prstGeom prst="rect">
            <a:avLst/>
          </a:prstGeom>
          <a:noFill/>
        </p:spPr>
        <p:txBody>
          <a:bodyPr wrap="square" lIns="36576" rIns="36576" tIns="18288" bIns="18288" anchor="ctr">
            <a:spAutoFit/>
          </a:bodyPr>
          <a:lstStyle/>
          <a:p>
            <a:pPr algn="l">
              <a:spcAft>
                <a:spcPts val="100"/>
              </a:spcAft>
            </a:pPr>
            <a:r>
              <a:rPr sz="950" b="0" i="0">
                <a:solidFill>
                  <a:srgbClr val="000000"/>
                </a:solidFill>
                <a:latin typeface="Google Sans Flex"/>
              </a:rPr>
              <a:t>Cloud Run scales to zero and is capped at one instance; Firestore and Firebase Hosting within free allowances.</a:t>
            </a:r>
          </a:p>
        </p:txBody>
      </p:sp>
      <p:sp>
        <p:nvSpPr>
          <p:cNvPr id="137" name="Rounded Rectangle 136"/>
          <p:cNvSpPr/>
          <p:nvPr/>
        </p:nvSpPr>
        <p:spPr>
          <a:xfrm>
            <a:off x="320040" y="3108960"/>
            <a:ext cx="1554480" cy="86868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Box 137"/>
          <p:cNvSpPr txBox="1"/>
          <p:nvPr/>
        </p:nvSpPr>
        <p:spPr>
          <a:xfrm>
            <a:off x="411480" y="3145536"/>
            <a:ext cx="1417320" cy="795528"/>
          </a:xfrm>
          <a:prstGeom prst="rect">
            <a:avLst/>
          </a:prstGeom>
          <a:noFill/>
        </p:spPr>
        <p:txBody>
          <a:bodyPr wrap="square" lIns="36576" rIns="36576" tIns="18288" bIns="18288" anchor="ctr">
            <a:spAutoFit/>
          </a:bodyPr>
          <a:lstStyle/>
          <a:p>
            <a:pPr algn="l">
              <a:spcAft>
                <a:spcPts val="400"/>
              </a:spcAft>
            </a:pPr>
            <a:r>
              <a:rPr sz="1200" b="1" i="0">
                <a:solidFill>
                  <a:srgbClr val="000000"/>
                </a:solidFill>
                <a:latin typeface="Google Sans Flex"/>
              </a:rPr>
              <a:t>Printing</a:t>
            </a:r>
          </a:p>
        </p:txBody>
      </p:sp>
      <p:sp>
        <p:nvSpPr>
          <p:cNvPr id="139" name="TextBox 138"/>
          <p:cNvSpPr txBox="1"/>
          <p:nvPr/>
        </p:nvSpPr>
        <p:spPr>
          <a:xfrm>
            <a:off x="2011680" y="3127248"/>
            <a:ext cx="6812280" cy="832103"/>
          </a:xfrm>
          <a:prstGeom prst="rect">
            <a:avLst/>
          </a:prstGeom>
          <a:noFill/>
        </p:spPr>
        <p:txBody>
          <a:bodyPr wrap="square" lIns="36576" rIns="36576" tIns="18288" bIns="18288" anchor="ctr">
            <a:spAutoFit/>
          </a:bodyPr>
          <a:lstStyle/>
          <a:p>
            <a:pPr algn="l">
              <a:spcAft>
                <a:spcPts val="100"/>
              </a:spcAft>
            </a:pPr>
            <a:r>
              <a:rPr sz="950" b="0" i="0">
                <a:solidFill>
                  <a:srgbClr val="000000"/>
                </a:solidFill>
                <a:latin typeface="Google Sans Flex"/>
              </a:rPr>
              <a:t>Swell paper is about US$1.30 an A4 sheet; fusers cost US$650 to 1,800; embossers from about US$4,700 (HumanWare, RNIB). About 48 Indonesian special schools own the same imported embosser and most no longer work (ITS Sewagati, 2023). So the voice guide works with no printer, and a teacher can build the sheet by hand from Timbul's layout (Perkins collage method).</a:t>
            </a:r>
          </a:p>
        </p:txBody>
      </p:sp>
      <p:sp>
        <p:nvSpPr>
          <p:cNvPr id="140" name="Rounded Rectangle 139"/>
          <p:cNvSpPr/>
          <p:nvPr/>
        </p:nvSpPr>
        <p:spPr>
          <a:xfrm>
            <a:off x="320040" y="4069080"/>
            <a:ext cx="1554480" cy="86868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411480" y="4105656"/>
            <a:ext cx="1417320" cy="795528"/>
          </a:xfrm>
          <a:prstGeom prst="rect">
            <a:avLst/>
          </a:prstGeom>
          <a:noFill/>
        </p:spPr>
        <p:txBody>
          <a:bodyPr wrap="square" lIns="36576" rIns="36576" tIns="18288" bIns="18288" anchor="ctr">
            <a:spAutoFit/>
          </a:bodyPr>
          <a:lstStyle/>
          <a:p>
            <a:pPr algn="l">
              <a:spcAft>
                <a:spcPts val="400"/>
              </a:spcAft>
            </a:pPr>
            <a:r>
              <a:rPr sz="1200" b="1" i="0">
                <a:solidFill>
                  <a:srgbClr val="000000"/>
                </a:solidFill>
                <a:latin typeface="Google Sans Flex"/>
              </a:rPr>
              <a:t>Who pays</a:t>
            </a:r>
          </a:p>
        </p:txBody>
      </p:sp>
      <p:sp>
        <p:nvSpPr>
          <p:cNvPr id="142" name="TextBox 141"/>
          <p:cNvSpPr txBox="1"/>
          <p:nvPr/>
        </p:nvSpPr>
        <p:spPr>
          <a:xfrm>
            <a:off x="2011680" y="4087368"/>
            <a:ext cx="6812280" cy="832103"/>
          </a:xfrm>
          <a:prstGeom prst="rect">
            <a:avLst/>
          </a:prstGeom>
          <a:noFill/>
        </p:spPr>
        <p:txBody>
          <a:bodyPr wrap="square" lIns="36576" rIns="36576" tIns="18288" bIns="18288" anchor="ctr">
            <a:spAutoFit/>
          </a:bodyPr>
          <a:lstStyle/>
          <a:p>
            <a:pPr algn="l">
              <a:spcAft>
                <a:spcPts val="100"/>
              </a:spcAft>
            </a:pPr>
            <a:r>
              <a:rPr sz="950" b="0" i="0">
                <a:solidFill>
                  <a:srgbClr val="000000"/>
                </a:solidFill>
                <a:latin typeface="Google Sans Flex"/>
              </a:rPr>
              <a:t>Indonesia's 2,396 special schools (4,229 blind students, Kemendikdasmen 2025), braille production centres such as BLBI Abiyoso, and publishers: PP 13/2020 requires government budgets for students' reasonable accommodation, and Indonesia ratified the Marrakesh Treaty in 2020.</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self-check.png"/>
          <p:cNvPicPr>
            <a:picLocks noChangeAspect="1"/>
          </p:cNvPicPr>
          <p:nvPr/>
        </p:nvPicPr>
        <p:blipFill>
          <a:blip r:embed="rId5"/>
          <a:stretch>
            <a:fillRect/>
          </a:stretch>
        </p:blipFill>
        <p:spPr>
          <a:xfrm>
            <a:off x="320040" y="1280160"/>
            <a:ext cx="4160520" cy="2340292"/>
          </a:xfrm>
          <a:prstGeom prst="rect">
            <a:avLst/>
          </a:prstGeom>
          <a:ln w="12700">
            <a:solidFill>
              <a:srgbClr val="000000"/>
            </a:solidFill>
          </a:ln>
        </p:spPr>
      </p:pic>
      <p:pic>
        <p:nvPicPr>
          <p:cNvPr id="137" name="Picture 136" descr="explore-id.png"/>
          <p:cNvPicPr>
            <a:picLocks noChangeAspect="1"/>
          </p:cNvPicPr>
          <p:nvPr/>
        </p:nvPicPr>
        <p:blipFill>
          <a:blip r:embed="rId6"/>
          <a:stretch>
            <a:fillRect/>
          </a:stretch>
        </p:blipFill>
        <p:spPr>
          <a:xfrm>
            <a:off x="4663440" y="1280160"/>
            <a:ext cx="4160520" cy="2340292"/>
          </a:xfrm>
          <a:prstGeom prst="rect">
            <a:avLst/>
          </a:prstGeom>
          <a:ln w="12700">
            <a:solidFill>
              <a:srgbClr val="000000"/>
            </a:solidFill>
          </a:ln>
        </p:spPr>
      </p:pic>
      <p:sp>
        <p:nvSpPr>
          <p:cNvPr id="138" name="TextBox 137"/>
          <p:cNvSpPr txBox="1"/>
          <p:nvPr/>
        </p:nvSpPr>
        <p:spPr>
          <a:xfrm>
            <a:off x="320040" y="3703320"/>
            <a:ext cx="4160520" cy="45720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Gemini lays its own drawing over the page to check it, before the sheet is drawn and approved.</a:t>
            </a:r>
          </a:p>
        </p:txBody>
      </p:sp>
      <p:sp>
        <p:nvSpPr>
          <p:cNvPr id="139" name="TextBox 138"/>
          <p:cNvSpPr txBox="1"/>
          <p:nvPr/>
        </p:nvSpPr>
        <p:spPr>
          <a:xfrm>
            <a:off x="4663440" y="3703320"/>
            <a:ext cx="4160520" cy="45720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The same figure in Bahasa Indonesia: a spoken question, a spoken answer.</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320040" y="1234440"/>
            <a:ext cx="4114800" cy="109728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457200" y="1307592"/>
            <a:ext cx="3840480" cy="457200"/>
          </a:xfrm>
          <a:prstGeom prst="rect">
            <a:avLst/>
          </a:prstGeom>
          <a:noFill/>
        </p:spPr>
        <p:txBody>
          <a:bodyPr wrap="square" lIns="36576" rIns="36576" tIns="18288" bIns="18288" anchor="t">
            <a:spAutoFit/>
          </a:bodyPr>
          <a:lstStyle/>
          <a:p>
            <a:pPr algn="l">
              <a:spcAft>
                <a:spcPts val="400"/>
              </a:spcAft>
            </a:pPr>
            <a:r>
              <a:rPr sz="2200" b="1" i="0">
                <a:solidFill>
                  <a:srgbClr val="000000"/>
                </a:solidFill>
                <a:latin typeface="Google Sans Flex"/>
              </a:rPr>
              <a:t>4 of 4</a:t>
            </a:r>
          </a:p>
        </p:txBody>
      </p:sp>
      <p:sp>
        <p:nvSpPr>
          <p:cNvPr id="146" name="TextBox 145"/>
          <p:cNvSpPr txBox="1"/>
          <p:nvPr/>
        </p:nvSpPr>
        <p:spPr>
          <a:xfrm>
            <a:off x="457200" y="1783080"/>
            <a:ext cx="3840480" cy="54864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Point and ask photos answered correctly: two parts, the same photo upside down, and no finger (7 to 21 s each; test photos were generated, not a real printed sheet)</a:t>
            </a:r>
          </a:p>
        </p:txBody>
      </p:sp>
      <p:sp>
        <p:nvSpPr>
          <p:cNvPr id="147" name="Rounded Rectangle 146"/>
          <p:cNvSpPr/>
          <p:nvPr/>
        </p:nvSpPr>
        <p:spPr>
          <a:xfrm>
            <a:off x="4617720" y="1234440"/>
            <a:ext cx="4114800" cy="109728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4754880" y="1307592"/>
            <a:ext cx="3840480" cy="457200"/>
          </a:xfrm>
          <a:prstGeom prst="rect">
            <a:avLst/>
          </a:prstGeom>
          <a:noFill/>
        </p:spPr>
        <p:txBody>
          <a:bodyPr wrap="square" lIns="36576" rIns="36576" tIns="18288" bIns="18288" anchor="t">
            <a:spAutoFit/>
          </a:bodyPr>
          <a:lstStyle/>
          <a:p>
            <a:pPr algn="l">
              <a:spcAft>
                <a:spcPts val="400"/>
              </a:spcAft>
            </a:pPr>
            <a:r>
              <a:rPr sz="2200" b="1" i="0">
                <a:solidFill>
                  <a:srgbClr val="000000"/>
                </a:solidFill>
                <a:latin typeface="Google Sans Flex"/>
              </a:rPr>
              <a:t>about 30 s</a:t>
            </a:r>
          </a:p>
        </p:txBody>
      </p:sp>
      <p:sp>
        <p:nvSpPr>
          <p:cNvPr id="149" name="TextBox 148"/>
          <p:cNvSpPr txBox="1"/>
          <p:nvPr/>
        </p:nvSpPr>
        <p:spPr>
          <a:xfrm>
            <a:off x="4754880" y="1783080"/>
            <a:ext cx="3840480" cy="54864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from a photo of a textbook page to a checked sheet: find the figure 1 to 2 s, read 10 to 26 s, self-check 10 to 35 s (Gemini 3.8 Flash)</a:t>
            </a:r>
          </a:p>
        </p:txBody>
      </p:sp>
      <p:sp>
        <p:nvSpPr>
          <p:cNvPr id="150" name="Rounded Rectangle 149"/>
          <p:cNvSpPr/>
          <p:nvPr/>
        </p:nvSpPr>
        <p:spPr>
          <a:xfrm>
            <a:off x="320040" y="2468880"/>
            <a:ext cx="4114800" cy="109728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457200" y="2542032"/>
            <a:ext cx="3840480" cy="457200"/>
          </a:xfrm>
          <a:prstGeom prst="rect">
            <a:avLst/>
          </a:prstGeom>
          <a:noFill/>
        </p:spPr>
        <p:txBody>
          <a:bodyPr wrap="square" lIns="36576" rIns="36576" tIns="18288" bIns="18288" anchor="t">
            <a:spAutoFit/>
          </a:bodyPr>
          <a:lstStyle/>
          <a:p>
            <a:pPr algn="l">
              <a:spcAft>
                <a:spcPts val="400"/>
              </a:spcAft>
            </a:pPr>
            <a:r>
              <a:rPr sz="2200" b="1" i="0">
                <a:solidFill>
                  <a:srgbClr val="000000"/>
                </a:solidFill>
                <a:latin typeface="Google Sans Flex"/>
              </a:rPr>
              <a:t>1 round</a:t>
            </a:r>
          </a:p>
        </p:txBody>
      </p:sp>
      <p:sp>
        <p:nvSpPr>
          <p:cNvPr id="152" name="TextBox 151"/>
          <p:cNvSpPr txBox="1"/>
          <p:nvPr/>
        </p:nvSpPr>
        <p:spPr>
          <a:xfrm>
            <a:off x="457200" y="3017520"/>
            <a:ext cx="3840480" cy="54864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for the self-check to catch a part we moved on purpose (the nucleus) and put it back; the second round confirmed the fix</a:t>
            </a:r>
          </a:p>
        </p:txBody>
      </p:sp>
      <p:sp>
        <p:nvSpPr>
          <p:cNvPr id="153" name="Rounded Rectangle 152"/>
          <p:cNvSpPr/>
          <p:nvPr/>
        </p:nvSpPr>
        <p:spPr>
          <a:xfrm>
            <a:off x="4617720" y="2468880"/>
            <a:ext cx="4114800" cy="1097280"/>
          </a:xfrm>
          <a:prstGeom prst="roundRect">
            <a:avLst>
              <a:gd name="adj" fmla="val 12000"/>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4754880" y="2542032"/>
            <a:ext cx="3840480" cy="457200"/>
          </a:xfrm>
          <a:prstGeom prst="rect">
            <a:avLst/>
          </a:prstGeom>
          <a:noFill/>
        </p:spPr>
        <p:txBody>
          <a:bodyPr wrap="square" lIns="36576" rIns="36576" tIns="18288" bIns="18288" anchor="t">
            <a:spAutoFit/>
          </a:bodyPr>
          <a:lstStyle/>
          <a:p>
            <a:pPr algn="l">
              <a:spcAft>
                <a:spcPts val="400"/>
              </a:spcAft>
            </a:pPr>
            <a:r>
              <a:rPr sz="2200" b="1" i="0">
                <a:solidFill>
                  <a:srgbClr val="000000"/>
                </a:solidFill>
                <a:latin typeface="Google Sans Flex"/>
              </a:rPr>
              <a:t>4 of 4</a:t>
            </a:r>
          </a:p>
        </p:txBody>
      </p:sp>
      <p:sp>
        <p:nvSpPr>
          <p:cNvPr id="155" name="TextBox 154"/>
          <p:cNvSpPr txBox="1"/>
          <p:nvPr/>
        </p:nvSpPr>
        <p:spPr>
          <a:xfrm>
            <a:off x="4754880" y="3017520"/>
            <a:ext cx="3840480" cy="548640"/>
          </a:xfrm>
          <a:prstGeom prst="rect">
            <a:avLst/>
          </a:prstGeom>
          <a:noFill/>
        </p:spPr>
        <p:txBody>
          <a:bodyPr wrap="square" lIns="36576" rIns="36576" tIns="18288" bIns="18288" anchor="t">
            <a:spAutoFit/>
          </a:bodyPr>
          <a:lstStyle/>
          <a:p>
            <a:pPr algn="l">
              <a:spcAft>
                <a:spcPts val="400"/>
              </a:spcAft>
            </a:pPr>
            <a:r>
              <a:rPr sz="1000" b="0" i="0">
                <a:solidFill>
                  <a:srgbClr val="000000"/>
                </a:solidFill>
                <a:latin typeface="Google Sans Flex"/>
              </a:rPr>
              <a:t>checks passed by the plant cell page (closest lines 3.1 mm against a 3 mm rule) and by a neural-network diagram after grouping</a:t>
            </a:r>
          </a:p>
        </p:txBody>
      </p:sp>
      <p:sp>
        <p:nvSpPr>
          <p:cNvPr id="156" name="TextBox 155"/>
          <p:cNvSpPr txBox="1"/>
          <p:nvPr/>
        </p:nvSpPr>
        <p:spPr>
          <a:xfrm>
            <a:off x="320040" y="3794760"/>
            <a:ext cx="8503920" cy="1097280"/>
          </a:xfrm>
          <a:prstGeom prst="rect">
            <a:avLst/>
          </a:prstGeom>
          <a:noFill/>
        </p:spPr>
        <p:txBody>
          <a:bodyPr wrap="square" lIns="36576" rIns="36576" tIns="18288" bIns="18288" anchor="t">
            <a:spAutoFit/>
          </a:bodyPr>
          <a:lstStyle/>
          <a:p>
            <a:pPr algn="l">
              <a:spcAft>
                <a:spcPts val="400"/>
              </a:spcAft>
            </a:pPr>
            <a:r>
              <a:rPr sz="1050" b="1" i="0">
                <a:solidFill>
                  <a:srgbClr val="000000"/>
                </a:solidFill>
                <a:latin typeface="Google Sans Flex"/>
              </a:rPr>
              <a:t>How we measured: </a:t>
            </a:r>
            <a:r>
              <a:rPr sz="1050" b="0" i="0">
                <a:solidFill>
                  <a:srgbClr val="000000"/>
                </a:solidFill>
                <a:latin typeface="Google Sans Flex"/>
              </a:rPr>
              <a:t>our own runs on 14 and 15 October 2026: a textbook page with an openly licensed plant cell figure, a series circuit, a neural-network diagram and the USGS water cycle, using scripts/check-reading.mjs and scripts/check-point.mjs in the repository.</a:t>
            </a:r>
          </a:p>
          <a:p>
            <a:pPr algn="l">
              <a:spcAft>
                <a:spcPts val="400"/>
              </a:spcAft>
            </a:pPr>
            <a:r>
              <a:rPr sz="1050" b="1" i="0">
                <a:solidFill>
                  <a:srgbClr val="000000"/>
                </a:solidFill>
                <a:latin typeface="Google Sans Flex"/>
              </a:rPr>
              <a:t>Honest limits: </a:t>
            </a:r>
            <a:r>
              <a:rPr sz="1050" b="0" i="0">
                <a:solidFill>
                  <a:srgbClr val="000000"/>
                </a:solidFill>
                <a:latin typeface="Google Sans Flex"/>
              </a:rPr>
              <a:t>busy scenes are the weak spot: the water cycle now passes all four checks, but its landscape comes out as large boxy regions. Some key letters sit outside their part when no clear spot is inside. No blind student or teacher has tested Timbul yet, and no sheet has been printed on swell paper yet.</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Oval 151"/>
          <p:cNvSpPr/>
          <p:nvPr/>
        </p:nvSpPr>
        <p:spPr>
          <a:xfrm>
            <a:off x="320040" y="120700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1</a:t>
            </a:r>
          </a:p>
        </p:txBody>
      </p:sp>
      <p:sp>
        <p:nvSpPr>
          <p:cNvPr id="153" name="TextBox 152"/>
          <p:cNvSpPr txBox="1"/>
          <p:nvPr/>
        </p:nvSpPr>
        <p:spPr>
          <a:xfrm>
            <a:off x="731520" y="1170432"/>
            <a:ext cx="8046720" cy="658368"/>
          </a:xfrm>
          <a:prstGeom prst="rect">
            <a:avLst/>
          </a:prstGeom>
          <a:noFill/>
        </p:spPr>
        <p:txBody>
          <a:bodyPr wrap="square" lIns="36576" rIns="36576" tIns="18288" bIns="18288" anchor="t">
            <a:spAutoFit/>
          </a:bodyPr>
          <a:lstStyle/>
          <a:p>
            <a:pPr algn="l">
              <a:spcAft>
                <a:spcPts val="400"/>
              </a:spcAft>
            </a:pPr>
            <a:r>
              <a:rPr sz="1100" b="1" i="0">
                <a:solidFill>
                  <a:srgbClr val="000000"/>
                </a:solidFill>
                <a:latin typeface="Google Sans Flex"/>
              </a:rPr>
              <a:t>Point and ask on real sheets: </a:t>
            </a:r>
            <a:r>
              <a:rPr sz="1100" b="0" i="0">
                <a:solidFill>
                  <a:srgbClr val="000000"/>
                </a:solidFill>
                <a:latin typeface="Google Sans Flex"/>
              </a:rPr>
              <a:t>It works on photos today; next, a phone stand and tests with printed swell-paper sheets and real fingers, then live video instead of a photo.</a:t>
            </a:r>
          </a:p>
        </p:txBody>
      </p:sp>
      <p:sp>
        <p:nvSpPr>
          <p:cNvPr id="154" name="Oval 153"/>
          <p:cNvSpPr/>
          <p:nvPr/>
        </p:nvSpPr>
        <p:spPr>
          <a:xfrm>
            <a:off x="320040" y="193852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2</a:t>
            </a:r>
          </a:p>
        </p:txBody>
      </p:sp>
      <p:sp>
        <p:nvSpPr>
          <p:cNvPr id="155" name="TextBox 154"/>
          <p:cNvSpPr txBox="1"/>
          <p:nvPr/>
        </p:nvSpPr>
        <p:spPr>
          <a:xfrm>
            <a:off x="731520" y="1901952"/>
            <a:ext cx="8046720" cy="658368"/>
          </a:xfrm>
          <a:prstGeom prst="rect">
            <a:avLst/>
          </a:prstGeom>
          <a:noFill/>
        </p:spPr>
        <p:txBody>
          <a:bodyPr wrap="square" lIns="36576" rIns="36576" tIns="18288" bIns="18288" anchor="t">
            <a:spAutoFit/>
          </a:bodyPr>
          <a:lstStyle/>
          <a:p>
            <a:pPr algn="l">
              <a:spcAft>
                <a:spcPts val="400"/>
              </a:spcAft>
            </a:pPr>
            <a:r>
              <a:rPr sz="1100" b="1" i="0">
                <a:solidFill>
                  <a:srgbClr val="000000"/>
                </a:solidFill>
                <a:latin typeface="Google Sans Flex"/>
              </a:rPr>
              <a:t>A phone screen built for screen readers: </a:t>
            </a:r>
            <a:r>
              <a:rPr sz="1100" b="0" i="0">
                <a:solidFill>
                  <a:srgbClr val="000000"/>
                </a:solidFill>
                <a:latin typeface="Google Sans Flex"/>
              </a:rPr>
              <a:t>VoiceOver and TalkBack can already swipe through every part; next, a one-button screen for asking and pointing, usable with the screen off.</a:t>
            </a:r>
          </a:p>
        </p:txBody>
      </p:sp>
      <p:sp>
        <p:nvSpPr>
          <p:cNvPr id="156" name="Oval 155"/>
          <p:cNvSpPr/>
          <p:nvPr/>
        </p:nvSpPr>
        <p:spPr>
          <a:xfrm>
            <a:off x="320040" y="267004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3</a:t>
            </a:r>
          </a:p>
        </p:txBody>
      </p:sp>
      <p:sp>
        <p:nvSpPr>
          <p:cNvPr id="157" name="TextBox 156"/>
          <p:cNvSpPr txBox="1"/>
          <p:nvPr/>
        </p:nvSpPr>
        <p:spPr>
          <a:xfrm>
            <a:off x="731520" y="2633472"/>
            <a:ext cx="8046720" cy="658368"/>
          </a:xfrm>
          <a:prstGeom prst="rect">
            <a:avLst/>
          </a:prstGeom>
          <a:noFill/>
        </p:spPr>
        <p:txBody>
          <a:bodyPr wrap="square" lIns="36576" rIns="36576" tIns="18288" bIns="18288" anchor="t">
            <a:spAutoFit/>
          </a:bodyPr>
          <a:lstStyle/>
          <a:p>
            <a:pPr algn="l">
              <a:spcAft>
                <a:spcPts val="400"/>
              </a:spcAft>
            </a:pPr>
            <a:r>
              <a:rPr sz="1100" b="1" i="0">
                <a:solidFill>
                  <a:srgbClr val="000000"/>
                </a:solidFill>
                <a:latin typeface="Google Sans Flex"/>
              </a:rPr>
              <a:t>Test with real users: </a:t>
            </a:r>
            <a:r>
              <a:rPr sz="1100" b="0" i="0">
                <a:solidFill>
                  <a:srgbClr val="000000"/>
                </a:solidFill>
                <a:latin typeface="Google Sans Flex"/>
              </a:rPr>
              <a:t>Sessions with blind students and their teachers at special schools in Indonesia and India, then fix what they find.</a:t>
            </a:r>
          </a:p>
        </p:txBody>
      </p:sp>
      <p:sp>
        <p:nvSpPr>
          <p:cNvPr id="158" name="Oval 157"/>
          <p:cNvSpPr/>
          <p:nvPr/>
        </p:nvSpPr>
        <p:spPr>
          <a:xfrm>
            <a:off x="320040" y="3401568"/>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4</a:t>
            </a:r>
          </a:p>
        </p:txBody>
      </p:sp>
      <p:sp>
        <p:nvSpPr>
          <p:cNvPr id="159" name="TextBox 158"/>
          <p:cNvSpPr txBox="1"/>
          <p:nvPr/>
        </p:nvSpPr>
        <p:spPr>
          <a:xfrm>
            <a:off x="731520" y="3364992"/>
            <a:ext cx="8046720" cy="658368"/>
          </a:xfrm>
          <a:prstGeom prst="rect">
            <a:avLst/>
          </a:prstGeom>
          <a:noFill/>
        </p:spPr>
        <p:txBody>
          <a:bodyPr wrap="square" lIns="36576" rIns="36576" tIns="18288" bIns="18288" anchor="t">
            <a:spAutoFit/>
          </a:bodyPr>
          <a:lstStyle/>
          <a:p>
            <a:pPr algn="l">
              <a:spcAft>
                <a:spcPts val="400"/>
              </a:spcAft>
            </a:pPr>
            <a:r>
              <a:rPr sz="1100" b="1" i="0">
                <a:solidFill>
                  <a:srgbClr val="000000"/>
                </a:solidFill>
                <a:latin typeface="Google Sans Flex"/>
              </a:rPr>
              <a:t>More languages and contracted braille: </a:t>
            </a:r>
            <a:r>
              <a:rPr sz="1100" b="0" i="0">
                <a:solidFill>
                  <a:srgbClr val="000000"/>
                </a:solidFill>
                <a:latin typeface="Google Sans Flex"/>
              </a:rPr>
              <a:t>Tamil, Thai and Vietnamese next; contracted braille through a standard braille library.</a:t>
            </a:r>
          </a:p>
        </p:txBody>
      </p:sp>
      <p:sp>
        <p:nvSpPr>
          <p:cNvPr id="160" name="Oval 159"/>
          <p:cNvSpPr/>
          <p:nvPr/>
        </p:nvSpPr>
        <p:spPr>
          <a:xfrm>
            <a:off x="320040" y="4133087"/>
            <a:ext cx="292608" cy="29260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CC00"/>
                </a:solidFill>
                <a:latin typeface="Google Sans Flex"/>
              </a:rPr>
              <a:t>5</a:t>
            </a:r>
          </a:p>
        </p:txBody>
      </p:sp>
      <p:sp>
        <p:nvSpPr>
          <p:cNvPr id="161" name="TextBox 160"/>
          <p:cNvSpPr txBox="1"/>
          <p:nvPr/>
        </p:nvSpPr>
        <p:spPr>
          <a:xfrm>
            <a:off x="731520" y="4096512"/>
            <a:ext cx="8046720" cy="658368"/>
          </a:xfrm>
          <a:prstGeom prst="rect">
            <a:avLst/>
          </a:prstGeom>
          <a:noFill/>
        </p:spPr>
        <p:txBody>
          <a:bodyPr wrap="square" lIns="36576" rIns="36576" tIns="18288" bIns="18288" anchor="t">
            <a:spAutoFit/>
          </a:bodyPr>
          <a:lstStyle/>
          <a:p>
            <a:pPr algn="l">
              <a:spcAft>
                <a:spcPts val="400"/>
              </a:spcAft>
            </a:pPr>
            <a:r>
              <a:rPr sz="1100" b="1" i="0">
                <a:solidFill>
                  <a:srgbClr val="000000"/>
                </a:solidFill>
                <a:latin typeface="Google Sans Flex"/>
              </a:rPr>
              <a:t>Shared across schools: </a:t>
            </a:r>
            <a:r>
              <a:rPr sz="1100" b="0" i="0">
                <a:solidFill>
                  <a:srgbClr val="000000"/>
                </a:solidFill>
                <a:latin typeface="Google Sans Flex"/>
              </a:rPr>
              <a:t>Class libraries already share sheets within a class; next, a national library so each textbook figure is made once for every school, with lead lines for labels.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a:t>
            </a:r>
            <a:endParaRPr>
              <a:latin typeface="Google Sans Flex Medium"/>
              <a:ea typeface="Google Sans Flex Medium"/>
              <a:cs typeface="Google Sans Flex Medium"/>
              <a:sym typeface="Google Sans Flex Medium"/>
            </a:endParaRPr>
            <a:r>
              <a:rPr lang="en-GB" b="1">
                <a:latin typeface="Google Sans Flex Medium"/>
                <a:ea typeface="Google Sans Flex Medium"/>
                <a:cs typeface="Google Sans Flex Medium"/>
                <a:sym typeface="Google Sans Flex Medium"/>
              </a:rPr>
              <a:t>: github.com/padmanabhan-r/timbul</a:t>
            </a: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a:t>
            </a:r>
            <a:endParaRPr>
              <a:latin typeface="Google Sans Flex Medium"/>
              <a:ea typeface="Google Sans Flex Medium"/>
              <a:cs typeface="Google Sans Flex Medium"/>
              <a:sym typeface="Google Sans Flex Medium"/>
            </a:endParaRPr>
            <a:r>
              <a:rPr lang="en-GB" b="1">
                <a:latin typeface="Google Sans Flex Medium"/>
                <a:ea typeface="Google Sans Flex Medium"/>
                <a:cs typeface="Google Sans Flex Medium"/>
                <a:sym typeface="Google Sans Flex Medium"/>
              </a:rPr>
              <a:t>: youtu.be/vN8Nwi9wOWY</a:t>
            </a:r>
          </a:p>
          <a:p>
            <a:pPr indent="-317500" lvl="0" marL="457200" rtl="0" algn="l">
              <a:spcBef>
                <a:spcPts val="0"/>
              </a:spcBef>
              <a:spcAft>
                <a:spcPts val="0"/>
              </a:spcAft>
              <a:buSzPts val="1400"/>
              <a:buFont typeface="Google Sans Flex Medium"/>
              <a:buChar char="●"/>
            </a:pPr>
            <a:r>
              <a:rPr lang="en-GB">
                <a:latin typeface="Google Sans Flex Medium"/>
                <a:ea typeface="Google Sans Flex Medium"/>
                <a:cs typeface="Google Sans Flex Medium"/>
                <a:sym typeface="Google Sans Flex Medium"/>
              </a:rPr>
              <a:t>Final Product Link</a:t>
            </a:r>
            <a:endParaRPr>
              <a:latin typeface="Google Sans Flex Medium"/>
              <a:ea typeface="Google Sans Flex Medium"/>
              <a:cs typeface="Google Sans Flex Medium"/>
              <a:sym typeface="Google Sans Flex Medium"/>
            </a:endParaRPr>
            <a:r>
              <a:rPr lang="en-GB" b="1">
                <a:latin typeface="Google Sans Flex Medium"/>
                <a:ea typeface="Google Sans Flex Medium"/>
                <a:cs typeface="Google Sans Flex Medium"/>
                <a:sym typeface="Google Sans Flex Medium"/>
              </a:rPr>
              <a:t>: to be added after deployment</a:t>
            </a: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